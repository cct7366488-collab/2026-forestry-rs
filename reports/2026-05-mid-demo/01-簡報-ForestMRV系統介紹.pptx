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84CC1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智慧森林監測平臺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D9F9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從野外到 FMP 一站式整合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371600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陳朝圳  教授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9F9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屏東科技大學森林系  ｜  FMP 審查委員  ｜  碳匯顧問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年 5 月  ForestMRV Workshop  |  早上場：系統介紹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2743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v2.11.7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—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今日議程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4114800" cy="3017520"/>
          </a:xfrm>
          <a:prstGeom prst="rect">
            <a:avLst/>
          </a:prstGeom>
          <a:solidFill>
            <a:srgbClr val="F0FDF4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554480"/>
            <a:ext cx="4114800" cy="4572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5544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早上 09:00–12:00  ｜  系統介紹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14884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09:00–09:20  開場 + 痛點
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09:20–10:00  系統概述 + 架構
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10:00–10:15  ☕ 休息
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10:15–11:00  核心功能 demo
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11:00–11:30  ★ AI 樹種辨識
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11:30–11:50  字典 + 碳量公式
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11:50–12:00  下午銜接 + Q&amp;A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1554480"/>
            <a:ext cx="4114800" cy="30175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554480"/>
            <a:ext cx="4114800" cy="4572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5544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下午 13:30–16:30  ｜  Hands-on 練習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214884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13:30–14:00  情境 1：建專案 + 加成員
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14:00–14:30  情境 2：建樣區 + 雙軸坡度
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14:30–15:00  情境 3：立木 + AI 辨識
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15:00–15:15  ☕ 休息
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15:15–15:45  情境 4：reviewer QAQC
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15:45–16:15  情境 5：dashboard 匯出
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16:15–16:30  情境 6：FMP 銜接 + 收尾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建議：早上請先下載 PWA 並用 Google 登入過一次，下午練習才能即時加入示範專案。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1 開場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2 / 45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—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關於講者 — 為什麼要做這套系統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2377440" cy="2377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65760" y="155448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🖼️
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[Screenshot：講者照片]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0233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陳朝圳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65760" y="4389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屏東科技大學森林系 教授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01752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專業背景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017520" y="196596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森林經營計畫書（FMP）審查委員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林業及自然保育署輔導計畫顧問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碳匯專案（AR-TMS0001~0004）方法學顧問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長期樣區（大雪山紅檜）研究 30 年以上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17520" y="33375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為什麼要做 ForestMRV？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017520" y="37490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 50+ 本 FMP，看到太多可避免的錯誤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碳量計算「黑箱」嚴重 → reviewer 無從判斷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想做「給林業同行的工具」，不是商業 SaaS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1 開場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3 / 45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為什麼做這系統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FMP 撰寫的 5 大痛點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1627632" cy="2560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3816" y="1691640"/>
            <a:ext cx="731520" cy="7315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3816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🌳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樹種辨識難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2926080"/>
            <a:ext cx="1353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surveyor 缺乏植物分類訓練，常把相似樹種混淆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039112" y="1554480"/>
            <a:ext cx="1627632" cy="2560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87168" y="1691640"/>
            <a:ext cx="731520" cy="7315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87168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🧮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130552" y="251460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算碳量黑箱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76272" y="2926080"/>
            <a:ext cx="1353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公式不透明，reviewer 無法核對來源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12464" y="1554480"/>
            <a:ext cx="1627632" cy="2560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0520" y="1691640"/>
            <a:ext cx="731520" cy="7315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6052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🔍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3803904" y="251460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Reviewer 透明度差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49624" y="2926080"/>
            <a:ext cx="1353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只看得到結果，看不到原始資料與計算過程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385816" y="1554480"/>
            <a:ext cx="1627632" cy="2560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33872" y="1691640"/>
            <a:ext cx="731520" cy="7315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33872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📋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5477256" y="251460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紙本表單錯漏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522976" y="2926080"/>
            <a:ext cx="1353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野外手寫 → 室內轉抄，每次轉抄漏 5–15%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59168" y="1554480"/>
            <a:ext cx="1627632" cy="2560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07224" y="1691640"/>
            <a:ext cx="731520" cy="7315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07224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🔄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7150608" y="251460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多人協作衝突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96328" y="2926080"/>
            <a:ext cx="1353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各自儲存，版本對不上、資料覆蓋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434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大痛點 × 數十年累積 → 計畫書品質參差、reviewer 信心不足、政府審查耗時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2 痛點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4 / 45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為什麼做這系統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痛點 1：野外調查現場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4114800" cy="3017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65760" y="1554480"/>
            <a:ext cx="41148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🖼️
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[Screenshot：野外 surveyor 調查照片]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411480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6276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一天 50–200 筆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754880" y="20574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每筆要記：個體編號、樹種、DBH、樹高、活力、座標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606040"/>
            <a:ext cx="4114800" cy="9144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6791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記錯一個樹種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754880" y="3108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影響碳量估算 ±30%（公式來源差異）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3657600"/>
            <a:ext cx="411480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37216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傳統做法的限制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4041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沒有即時校驗、沒有 AI 輔助、沒有當下試算碳量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2 痛點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5 / 45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為什麼做這系統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痛點 2：Reviewer 拿到 5000 筆 Excel 怎麼辦？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411480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691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🔍  Reviewer 視角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194560"/>
            <a:ext cx="3886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5000 筆立木怎麼判斷可信度？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沒有原始照片可比對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不知道 surveyor 是誰、何時做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看不到使用哪條 allometric 公式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無法抽樣回去現場核對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簽發查證 = 賭良心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554480"/>
            <a:ext cx="4114800" cy="3108960"/>
          </a:xfrm>
          <a:prstGeom prst="rect">
            <a:avLst/>
          </a:prstGeom>
          <a:solidFill>
            <a:srgbClr val="F0FDF4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691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 ForestMRV 解法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800600" y="2194560"/>
            <a:ext cx="3886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隨機抽樣 + 現場重測工作流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每筆立木保留照片 + AI 辨識結果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 audit log（誰、何時、改了什麼）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公式來源徽章 🟢🟡🟠 透明顯示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誤差 badge 三色一目了然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達標才開放「合格簽發」按鈕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2 痛點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6 / 45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為什麼做這系統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痛點 3：紙本 → Excel → 統計軟體 → Word，多次轉抄漏失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82880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828800"/>
            <a:ext cx="137160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紙本表單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2402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野外手寫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128016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 字跡辨識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 rot="5400000">
            <a:off x="1920240" y="2359152"/>
            <a:ext cx="320040" cy="219456"/>
          </a:xfrm>
          <a:prstGeom prst="rtTriangl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86000" y="182880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1828800"/>
            <a:ext cx="137160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0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31720" y="22402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室內 key-in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331720" y="2697480"/>
            <a:ext cx="128016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31720" y="26974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 轉抄錯誤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 rot="5400000">
            <a:off x="3703320" y="2359152"/>
            <a:ext cx="320040" cy="219456"/>
          </a:xfrm>
          <a:prstGeom prst="rtTriangl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9080" y="182880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69080" y="1828800"/>
            <a:ext cx="137160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69080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統計軟體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2402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 / SPSS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0" y="2697480"/>
            <a:ext cx="128016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0" y="26974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 欄位對應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 rot="5400000">
            <a:off x="5486400" y="2359152"/>
            <a:ext cx="320040" cy="219456"/>
          </a:xfrm>
          <a:prstGeom prst="rtTriangl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52160" y="182880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52160" y="1828800"/>
            <a:ext cx="137160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52160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報告試算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897880" y="22402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另一個 Excel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897880" y="2697480"/>
            <a:ext cx="128016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97880" y="26974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 版本不一致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 rot="5400000">
            <a:off x="7269480" y="2359152"/>
            <a:ext cx="320040" cy="219456"/>
          </a:xfrm>
          <a:prstGeom prst="rtTriangl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5240" y="182880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5240" y="1828800"/>
            <a:ext cx="137160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35240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FMP Word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680960" y="22402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人工貼上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80960" y="2697480"/>
            <a:ext cx="128016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80960" y="26974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 單位漏換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02920" y="3520440"/>
            <a:ext cx="4023360" cy="10515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361188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每次轉抄漏失 5–15%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40080" y="406908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階段 × 平均 8% → 累積誤差約 33%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54880" y="3520440"/>
            <a:ext cx="4023360" cy="1051560"/>
          </a:xfrm>
          <a:prstGeom prst="rect">
            <a:avLst/>
          </a:prstGeom>
          <a:solidFill>
            <a:srgbClr val="F0FDF4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92040" y="361188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ForestMRV：野外即時 → Firestore → 直接出報告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4892040" y="406908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 次轉抄 → 0 失真 → 來源可追溯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2 痛點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7 / 45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5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6EF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於是……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誕生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4CC1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一站式 PWA — 野外、辦公室、reviewer，同一套系統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606040" cy="1371600"/>
          </a:xfrm>
          <a:prstGeom prst="rect">
            <a:avLst/>
          </a:prstGeom>
          <a:solidFill>
            <a:srgbClr val="16653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474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EF2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野外可用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 / 平板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離線可填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60420" y="3383280"/>
            <a:ext cx="2606040" cy="1371600"/>
          </a:xfrm>
          <a:prstGeom prst="rect">
            <a:avLst/>
          </a:prstGeom>
          <a:solidFill>
            <a:srgbClr val="16653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51860" y="3474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EF2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加持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451860" y="39319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拍照辨識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即時試算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72200" y="3383280"/>
            <a:ext cx="2606040" cy="1371600"/>
          </a:xfrm>
          <a:prstGeom prst="rect">
            <a:avLst/>
          </a:prstGeom>
          <a:solidFill>
            <a:srgbClr val="16653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3474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EF2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Reviewer 友善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63640" y="39319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抽樣重測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誤差透明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系統概述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是什麼？三句話定義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5087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65A30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371600" y="1554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 PWA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3716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不用安裝、不用上 app store，手機 / 平板 / 桌機開瀏覽器即用。離線可填，回連自動同步。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58775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65A30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1371600" y="263347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種角色協作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304495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admin、PI、surveyor、reviewer、（dataManager 已淘汰）。從建專案到簽發查證一條龍。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666744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65A30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1371600" y="3712464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 serverless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71600" y="412394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Firebase（Auth + Firestore + Storage + Hosting）+ AI APIs（PlantNet + Claude），無傳統後端。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3 系統概述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9 / 45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系統概述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核心特性 — 4 個 keyword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411480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777240" cy="77724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📵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463040" y="1737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離線可用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2148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Firestore offline persistence — 訊號斷了照樣填，回連自動同步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554480"/>
            <a:ext cx="411480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46320" y="1828800"/>
            <a:ext cx="777240" cy="77724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🔄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5760720" y="1737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自動更新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760720" y="2148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Service Worker 偵測新版 → 藍色橫幅一鍵套用，不用重灌 app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063240"/>
            <a:ext cx="411480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337560"/>
            <a:ext cx="777240" cy="77724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337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📱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463040" y="3246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跨裝置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63040" y="36576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iOS / Android / Windows / Mac，手機填、平板看、桌機改，同一資料庫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3063240"/>
            <a:ext cx="411480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46320" y="3337560"/>
            <a:ext cx="777240" cy="77724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3337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🌐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5760720" y="3246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開源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760720" y="36576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公開：cct7366488-collab/2026-forestry-rs，可 fork、可貢獻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3 系統概述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10 / 45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系統概述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使用情境 — 4 個典型應用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4114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554480"/>
            <a:ext cx="731520" cy="13716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55448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📋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234440" y="16916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FMP 撰寫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210312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森林經營計畫書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林地基本資料 + 樣區 + 立木 → 自動 KPI、樹種組成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554480"/>
            <a:ext cx="4114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554480"/>
            <a:ext cx="731520" cy="13716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55448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🌱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5532120" y="16916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91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碳匯專案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532120" y="210312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AR-TMS0001/0002/0003/0004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基線 + 監測 + 查證 → 符合 IPCC LULUCF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108960"/>
            <a:ext cx="4114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108960"/>
            <a:ext cx="731520" cy="13716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0896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🤝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234440" y="32461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林業永續輔導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4440" y="36576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輔導小農 / 林農合作社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統一資料規格 → 政府補助申請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3108960"/>
            <a:ext cx="4114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3108960"/>
            <a:ext cx="731520" cy="13716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3108960"/>
            <a:ext cx="731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📊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5532120" y="32461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政策報告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532120" y="36576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林業及自然保育署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跨計畫統計 → 全國森林狀況評估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3 系統概述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11 / 45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系統概述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符合標準 — 4 大規範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20116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554480"/>
            <a:ext cx="2011680" cy="4572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IPCC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21031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2006 Guidelines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25146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LULUCF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3520440"/>
            <a:ext cx="128016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611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土地利用變化與林業章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Tier-1 / Tier-2 兩層備援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514600" y="1554480"/>
            <a:ext cx="20116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14600" y="1554480"/>
            <a:ext cx="2011680" cy="4572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146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林業署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06040" y="21031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森林經營計畫書範本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606040" y="25146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章 + 附錄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80360" y="3520440"/>
            <a:ext cx="128016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06040" y="3611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經營目標 / 現況分析 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經營活動 / 經費 / 待解決事項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1554480"/>
            <a:ext cx="20116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3440" y="1554480"/>
            <a:ext cx="2011680" cy="4572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MRV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754880" y="21031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測量・報告・查證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754880" y="25146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Measurement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i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Reporting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i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0" y="3520440"/>
            <a:ext cx="128016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3611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抽樣重測 + 誤差統計 +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第三方簽發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2280" y="1554480"/>
            <a:ext cx="20116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12280" y="1554480"/>
            <a:ext cx="2011680" cy="4572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1228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TACCC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903720" y="21031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大原則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03720" y="25146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Transparent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i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Accurate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i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Consistent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i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Complete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i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Comparable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178040" y="3520440"/>
            <a:ext cx="128016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03720" y="3611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透明 / 準確 / 一致 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 / 可比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3 系統概述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12 / 45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技術架構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整體架構 — 三層 + 外部 AI 服務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08760"/>
            <a:ext cx="8412480" cy="640080"/>
          </a:xfrm>
          <a:prstGeom prst="rect">
            <a:avLst/>
          </a:prstGeom>
          <a:solidFill>
            <a:srgbClr val="F0FDF4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🌐  使用者裝置（PWA — 瀏覽器即可）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0" y="155448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iOS / Android / Windows / macOS  ｜  HTML + Vanilla JS + Tailwind CSS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331720"/>
            <a:ext cx="4754880" cy="169164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 Firebase（雲端後端）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1005840" cy="24688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78892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554480" y="2788920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/ Email 登入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081528"/>
            <a:ext cx="1005840" cy="24688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081528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Firestore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554480" y="3081528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NoSQL 即時資料庫 + offline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374136"/>
            <a:ext cx="1005840" cy="24688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374136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Storage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554480" y="3374136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樣木 / 樣區照片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666744"/>
            <a:ext cx="1005840" cy="24688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666744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554480" y="3666744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CDN + SSL + auto deploy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349240" y="2331720"/>
            <a:ext cx="3429000" cy="169164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40680" y="23774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🤖  AI 服務（外部 API）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40680" y="2788920"/>
            <a:ext cx="1188720" cy="24688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40680" y="278892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PlantNet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720840" y="278892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主辨識（free 500/天）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40680" y="3081528"/>
            <a:ext cx="1188720" cy="24688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40680" y="3081528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 Haiku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20840" y="308152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補詳細解釋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40680" y="3374136"/>
            <a:ext cx="1188720" cy="24688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0680" y="3374136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CF Worker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20840" y="337413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CORS proxy（自架）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40680" y="3666744"/>
            <a:ext cx="1188720" cy="24688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40680" y="3666744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open-meteo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720840" y="3666744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 海拔自動偵測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65760" y="4160520"/>
            <a:ext cx="841248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🗺  輔助 lib：proj4（TWD97↔WGS84）  ｜  Leaflet（地圖）  ｜  Chart.js（圖表）  ｜  SheetJS（Excel）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4 技術架構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13 / 45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技術架構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種角色與權限矩陣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17320"/>
                <a:gridCol w="640080"/>
                <a:gridCol w="640080"/>
                <a:gridCol w="640080"/>
                <a:gridCol w="640080"/>
                <a:gridCol w="3246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角色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建專案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收資料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QAQC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Lock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典型工作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580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systemAdmin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跨專案 god view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建專案、加成員、AI 全域設定、字典管理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PI（主持人）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自己專案內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8716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8716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規劃方法學、排樣區、改成員、最後 lock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891B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surveyor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自己建的資料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8716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8716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8716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野外建樣區、調立木、拍照、AI 辨識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C3AE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reviewer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專案唯讀 + QAQC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8716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8716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A580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抽樣 → 現場核對 → 誤差 → 合格簽發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78716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dataManager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78716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已淘汰 (v1.7)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8716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8716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8716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8716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78716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早期角色，已併入 surveyor / reviewer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45262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權限優先序：admin &gt; PI &gt; surveyor / reviewer  ｜  reviewer 不能修改 surveyor 的資料，只能標記重測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4 技術架構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14 / 45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技術架構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資料模型 — Firestore 樹狀結構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1645920" cy="457200"/>
          </a:xfrm>
          <a:prstGeom prst="rect">
            <a:avLst/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54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users/{uid}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240280"/>
            <a:ext cx="1645920" cy="4572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projects/{pid}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377440" y="2240280"/>
            <a:ext cx="1645920" cy="457200"/>
          </a:xfrm>
          <a:prstGeom prst="rect">
            <a:avLst/>
          </a:prstGeom>
          <a:solidFill>
            <a:srgbClr val="65A30D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plots/{plotId}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1783080"/>
            <a:ext cx="137160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17830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52160" y="17830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立木 (DBH/H/碳量)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89120" y="2240280"/>
            <a:ext cx="137160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34840" y="22402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regeneration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52160" y="22402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自然更新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89120" y="2697480"/>
            <a:ext cx="137160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4840" y="26974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understory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52160" y="26974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地被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89120" y="3154680"/>
            <a:ext cx="137160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4840" y="31546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soilCons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852160" y="31546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水土保持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89120" y="3611880"/>
            <a:ext cx="137160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34840" y="36118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wildlife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36118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野生動物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389120" y="4069080"/>
            <a:ext cx="137160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34840" y="40690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harvest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852160" y="40690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11680" y="2468880"/>
            <a:ext cx="365760" cy="0"/>
          </a:xfrm>
          <a:prstGeom prst="line">
            <a:avLst/>
          </a:prstGeom>
          <a:noFill/>
          <a:ln w="19050">
            <a:solidFill>
              <a:srgbClr val="78716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23360" y="2468880"/>
            <a:ext cx="365760" cy="0"/>
          </a:xfrm>
          <a:prstGeom prst="line">
            <a:avLst/>
          </a:prstGeom>
          <a:noFill/>
          <a:ln w="19050">
            <a:solidFill>
              <a:srgbClr val="78716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4160520"/>
            <a:ext cx="4023360" cy="59436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1605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species/{zh}  — 共用樹種字典 (224 種)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0" y="4160520"/>
            <a:ext cx="4206240" cy="59436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416052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app_settings/aiConfig  — admin 全域 AI key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65760" y="481888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設計原則：每個樣區自包含（plot subcollection），跨專案共用只放 species + app_settings 兩個 top-level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4 技術架構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15 / 45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技術架構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 Stack 一覽表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91840"/>
                <a:gridCol w="402336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53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PWA（HTML + Vanilla JS + Tailwind）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跨平台、離線可用、自動更新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53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後端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無傳統後端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Firebase serverless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53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資料庫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Firebase Firestore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即時同步、offline persistence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53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認證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Firebase Auth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Google 登入 / Email 密碼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53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Firebase Storage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樣木 / 樣區照片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53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託管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Firebase Hosting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CDN + SSL + 自動 deploy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580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辨識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A580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Pl@ntNet API + Claude Haiku 4.5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主辨識（植物模型）+ 補詳細解釋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53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CORS proxy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Cloudflare Worker（自架，free）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 PlantNet 拒 browser 直連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53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open-meteo Elevation API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自動偵測樣區海拔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53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座標系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TWD97 TM2 ↔ WGS84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proj4 自動雙向轉換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4 技術架構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16 / 45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技術架構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為什麼選 PWA 不是 native app？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74720"/>
                <a:gridCol w="3474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面向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PWA（我們選這個）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0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Native app（沒選）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8716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803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不用過 App Store / Play Store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 要審核 1–14 天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更新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803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deploy 後使用者下次開即用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 要強制使用者更新版本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跨平台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803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一份 code 同時跑 iOS/Android/桌機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 要寫 Swift + Kotlin 兩套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安裝門檻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803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開瀏覽器即用，可選擇加桌面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580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~ 要下載安裝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相機 / GPS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803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Web API 完整支援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803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原生支援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803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Service Worker + Firestore offline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803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原生支援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開發成本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803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1 人 6 個月可做出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91C1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 至少 3 人 1 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唯一缺點：iOS Safari 對部分 PWA API 支援較慢（如背景同步），但本系統不依賴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4 技術架構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17 / 45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核心功能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 + 我的專案 list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🖼️
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[Screenshot：登入頁 + 專案卡片]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60720" y="196596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登入（單鍵）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Email/密碼備援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專案卡片顯示：名稱、角色、狀態、最後活動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點卡進入該專案首頁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右上「+ 新專案」（admin / 受邀的 PI）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60720" y="4160520"/>
            <a:ext cx="30175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41605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241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第一次登入會建立 users/{uid} doc，admin 才能加你進專案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 核心功能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18 / 45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核心功能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建專案 + 加成員（admin / PI 視角）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🖼️
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[Screenshot：新專案 form + 成員列表]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60720" y="196596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 code（FMP-XXX-YYYY-NNN）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指定 PI（主持人）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啟用模組勾選（trees / regen / wildlife...）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加成員 → 設角色（surveyor / reviewer）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方法學設定（樣區形狀、面積、坡度模式）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60720" y="4160520"/>
            <a:ext cx="30175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41605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241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 學員端要先用 Google 登入過一次，才能被加進專案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 核心功能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19 / 45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核心功能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建樣區 — 雙軸坡度 + GPS + DEM 自動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🖼️
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[Screenshot：樣區 form（v2.10.9）]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60720" y="196596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GPS 自動抓座標（失敗自動 retry + 手動 fallback）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 API 自動填海拔（open-meteo）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樣區形狀：rectangle 20×25（預設）/ square / circle / irregular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雙軸坡度：寬邊（沿坡）+ 長邊（沿等高線）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系統自動算 areaHorizontal / areaSlope（cos 修正）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60720" y="4160520"/>
            <a:ext cx="30175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41605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241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紙漿廠 SOP 已驗證：25 m 沿等高線、20 m 沿坡（與教科書相反）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 核心功能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20 / 45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核心功能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樹種 picker — fuzzy 搜尋 + 海拔 band + 公式徽章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🖼️
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[Screenshot：樹種 picker 下拉（v2.10.5+）]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60720" y="196596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224 種 Firestore 字典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中名 / 學名 / 別名 fuzzy match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海拔 band pills（DEM 自動帶）— 高/中/低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top-30 常用置頂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公式來源徽章 🟢 species / 🟡 genus / 🟠 type-default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 保育類自動 tag（I/II/III 級）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60720" y="4160520"/>
            <a:ext cx="30175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41605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241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找不到？開「+ 新增樹種」走 admin 字典審查流程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 核心功能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21 / 45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核心功能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立木調查 — DBH / 樹高 / 即時試算碳量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🖼️
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[Screenshot：立木 form + 試算欄]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60720" y="196596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個體編號自動續號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DBH（cm）+ 樹高（m）即時計算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試算：斷面積 / 材積 / 全株生物量 / 碳蓄積 / CO₂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公式來源 label：「[紅檜] BEF 0.58 / CF 0.49 ｜ 陳朝圳 1985」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活力 / 病蟲害 / 局部 X/Y 座標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上傳特徵照（多張）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60720" y="4160520"/>
            <a:ext cx="30175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41605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241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submit 後自動算 treeLocationTWD97 + WGS84 座標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 核心功能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22 / 45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核心功能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其他子集合 — 自然更新 / 動植物 / 水保 / 採收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🖼️
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[Screenshot：樣區 subtab 切換]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60720" y="196596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regeneration  自然更新（幼苗密度 / 樹種）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understory  地被植物（覆蓋率 / 物種）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soilCons  水土保持（沖蝕 / 結構物）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wildlife  野生動物（目擊 / 痕跡 / 紅外線）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harvest  採收（伐倒 / 利用）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60720" y="4160520"/>
            <a:ext cx="30175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41605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241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表單模式類似立木，每個子集合也都有自己的 schema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 核心功能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23 / 45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核心功能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Dashboard — 全專案統計總覽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🖼️
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[Screenshot：Dashboard tab（v2.9.0+）]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60720" y="196596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KPI：樣區數 / 立木數 / 碳量 / CO₂ 總量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DBH 直方圖（5 cm bin）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IV 重要值排名（top 10 樹種）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活力 donut 圖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樹種組成矩陣（B 升級）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空間密度 heat map（E 升級）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60720" y="4160520"/>
            <a:ext cx="30175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41605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241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dashboard 即時更新（onSnapshot）— surveyor 上傳即看到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 核心功能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24 / 45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核心功能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Per-plot 概況 — 公式覆蓋率 + reviewer 信心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🖼️
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[Screenshot：Per-plot dashboard（v2.9.0 A）]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60720" y="196596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單樣區 KPI（立木 / 碳量單位智能切：max 1000 kg → t）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DBH 分布直方圖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QAQC 誤差直方圖（v2.9.0 D）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公式來源覆蓋率：🟢 species 65% / 🟡 genus 25% / 🟠 type 10%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Reviewer 信心估算（基於覆蓋率 + 誤差）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60720" y="4160520"/>
            <a:ext cx="30175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41605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241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reviewer 拿這頁判斷該樣區資料品質一目了然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 核心功能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25 / 45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核心功能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地圖 — 樣區 + 立木分布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🖼️
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[Screenshot：樣區地圖 + 立木分布散布圖]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60720" y="196596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Leaflet 地圖（OSM tile）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樣區位置 marker（TWD97 → WGS84）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 marker 進該樣區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立木分布 X/Y 散布圖（樣區內局部座標）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可切「沿坡距 ↔ 水平投影」雙模式（v2.8.6）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60720" y="4160520"/>
            <a:ext cx="30175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41605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241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reviewer 可看立木空間分布是否合理（聚集 / 規則排）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 核心功能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26 / 45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核心功能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QAQC reviewer 工作流 — 抽樣 → 重測 → 誤差 → 簽發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🖼️
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[Screenshot：QAQC tab（v2.7.17 + v2.8.1）]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60720" y="196596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reviewer 設 QAQC config（抽樣比例 / 閾值）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系統隨機抽 plots → reviewer 現場重測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系統算誤差 → 三色 badge（綠 / 黃 / 紅）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紅色 flag 處理（remeasure / accept / reject）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通過 approval gate → 「合格簽發」 → status = verified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QAQC 摘要寫入 project.qaqcSummary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60720" y="4160520"/>
            <a:ext cx="30175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41605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241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這是把「第三方查證」程序化，從紙本表單變數位 audit trail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5 核心功能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27 / 45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 AI 樹種辨識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拍照辨識 — 最吸睛的功能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502920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65760" y="155448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🖼️
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[Screenshot：AI 辨識 demo gif（拍照 → 辨識結果）]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577840" y="1554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秒上手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577840" y="2057400"/>
            <a:ext cx="274320" cy="2743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0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0" y="2011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點「📸 AI 辨識」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577840" y="2468880"/>
            <a:ext cx="274320" cy="2743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77840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423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拍葉照 / 樹幹照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577840" y="2880360"/>
            <a:ext cx="274320" cy="2743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77840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選器官（leaf 預設）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577840" y="3291840"/>
            <a:ext cx="274320" cy="2743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0" y="3246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點辨識 → 3–5 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577840" y="3703320"/>
            <a:ext cx="274320" cy="2743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77840" y="3703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943600" y="3657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top-3 結果出現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577840" y="4114800"/>
            <a:ext cx="274320" cy="2743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7784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943600" y="4069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點選 → 自動填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6 AI 樹種辨識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28 / 45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 AI 樹種辨識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 AI 混合架構 — PlantNet + Claude Haiku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554480"/>
            <a:ext cx="1828800" cy="640080"/>
          </a:xfrm>
          <a:prstGeom prst="rect">
            <a:avLst/>
          </a:prstGeom>
          <a:solidFill>
            <a:srgbClr val="F0FDF4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📷 野外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874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拍葉照 (800px JPEG)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0" y="1554480"/>
            <a:ext cx="1645920" cy="64008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0" y="15544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PWA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43200" y="1874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ai-species.js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46320" y="1554480"/>
            <a:ext cx="1645920" cy="6400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5544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CF Worker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1874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CORS proxy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49440" y="1554480"/>
            <a:ext cx="1737360" cy="64008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1554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🌿 PlantNet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49440" y="18745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top-3 學名+%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rot="5400000">
            <a:off x="2331720" y="1764792"/>
            <a:ext cx="365760" cy="228600"/>
          </a:xfrm>
          <a:prstGeom prst="rtTriangle">
            <a:avLst/>
          </a:prstGeom>
          <a:solidFill>
            <a:srgbClr val="78716C"/>
          </a:solidFill>
          <a:ln w="12700">
            <a:solidFill>
              <a:srgbClr val="78716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5400000">
            <a:off x="4434840" y="1764792"/>
            <a:ext cx="365760" cy="228600"/>
          </a:xfrm>
          <a:prstGeom prst="rtTriangle">
            <a:avLst/>
          </a:prstGeom>
          <a:solidFill>
            <a:srgbClr val="78716C"/>
          </a:solidFill>
          <a:ln w="12700">
            <a:solidFill>
              <a:srgbClr val="78716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5400000">
            <a:off x="6537960" y="1764792"/>
            <a:ext cx="365760" cy="228600"/>
          </a:xfrm>
          <a:prstGeom prst="rtTriangle">
            <a:avLst/>
          </a:prstGeom>
          <a:solidFill>
            <a:srgbClr val="78716C"/>
          </a:solidFill>
          <a:ln w="12700">
            <a:solidFill>
              <a:srgbClr val="78716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66160" y="2194560"/>
            <a:ext cx="0" cy="502920"/>
          </a:xfrm>
          <a:prstGeom prst="line">
            <a:avLst/>
          </a:prstGeom>
          <a:noFill/>
          <a:ln w="19050">
            <a:solidFill>
              <a:srgbClr val="78716C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2286000" y="2743200"/>
            <a:ext cx="2743200" cy="777240"/>
          </a:xfrm>
          <a:prstGeom prst="rect">
            <a:avLst/>
          </a:prstGeom>
          <a:solidFill>
            <a:srgbClr val="F3E8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743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21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🤖 Claude Haiku 4.5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286000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81C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（背景並行 fire）+ imageQuality + 特徵 + 棲地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0" y="2743200"/>
            <a:ext cx="3200400" cy="77724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合併呈現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0" y="3108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F9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top-3 + 中名 + 字典命中 tag + 詳細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0" y="3108960"/>
            <a:ext cx="457200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rot="10800000">
            <a:off x="6949440" y="3611880"/>
            <a:ext cx="274320" cy="365760"/>
          </a:xfrm>
          <a:prstGeom prst="rtTriangle">
            <a:avLst/>
          </a:prstGeom>
          <a:solidFill>
            <a:srgbClr val="78716C"/>
          </a:solidFill>
          <a:ln w="12700">
            <a:solidFill>
              <a:srgbClr val="78716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0" y="4023360"/>
            <a:ext cx="5029200" cy="640080"/>
          </a:xfrm>
          <a:prstGeom prst="rect">
            <a:avLst/>
          </a:prstGeom>
          <a:solidFill>
            <a:srgbClr val="F0FDF4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0" y="40233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User 點選 → picker 自動填 + 照片自動入 tree.photos + 自動算碳量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6 AI 樹種辨識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29 / 45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 AI 樹種辨識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為什麼不用單一 LLM？兩個工具各司其職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4114800" cy="310896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6916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41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🌿  Pl@ntNet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植物分類專業 CNN 模型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606040"/>
            <a:ext cx="3886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全球 4.5 萬種植物資料庫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準確度高（plant identification）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便宜（free 500/天）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快（3–5 秒）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精確 sci 名輸出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✗ 只回名字，無解釋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✗ 無圖片品質評估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1554480"/>
            <a:ext cx="4114800" cy="3108960"/>
          </a:xfrm>
          <a:prstGeom prst="rect">
            <a:avLst/>
          </a:prstGeom>
          <a:solidFill>
            <a:srgbClr val="F3E8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6916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21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🤖  Claude Haiku 4.5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800600" y="21488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通用 LLM + vision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00600" y="2606040"/>
            <a:ext cx="3886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解釋「為什麼像」這個樹種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圖片品質評估（good / poor）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補充特徵 / 棲地 / 是否原生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Reviewer 透明度 ↑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✗ 植物辨識準度不及專業模型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✗ 較貴（$0.005/次）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✗ 較慢（5–15 秒）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6 AI 樹種辨識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30 / 45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 AI 樹種辨識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成本對照 — 月用量 50 次/天 約 $8/月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554480"/>
            <a:ext cx="2743200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7830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Free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57200" y="27432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Pl@ntNet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1546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500 次/天免費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超量需訂閱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155448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1554480"/>
            <a:ext cx="2743200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7830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$0.005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3291840" y="27432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Haiku 1 次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91840" y="31546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單張葉照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 vision 推論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55448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35040" y="1554480"/>
            <a:ext cx="2743200" cy="7315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17830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$8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6126480" y="27432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月支出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126480" y="31546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 次/天 × 30 天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≈ 1500 次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69080"/>
            <a:ext cx="8412480" cy="640080"/>
          </a:xfrm>
          <a:prstGeom prst="rect">
            <a:avLst/>
          </a:prstGeom>
          <a:solidFill>
            <a:srgbClr val="F0FDF4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069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💰 對比商業樹種辨識服務（如 Picture This 約 $30/月/user × 多 user）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→ ForestMRV admin 一次設好 key，全 team 共用，成本 ↓ 95%+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6 AI 樹種辨識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31 / 45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 AI 樹種辨識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辨識結果 UI — top-3 + 信心 + 字典命中 + 詳細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502920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65760" y="155448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🖼️
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[Screenshot：AI 辨識結果 modal]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577840" y="1554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 元素拆解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577840" y="20116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89320" y="20116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top-3 候選樹種卡片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577840" y="237744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89320" y="23774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信心 % 條（PlantNet 提供）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577840" y="274320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89320" y="27432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字典命中 ✅ tag（綠 = 在 224 種內）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77840" y="310896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89320" y="310896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保育類 ⚠ 警告（自動標 I/II/III）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577840" y="34747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89320" y="34747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Haiku 詳細：特徵 / 棲地 / 是否原生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577840" y="38404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⑥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89320" y="38404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圖片品質 badge（good / poor）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77840" y="420624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⑦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89320" y="42062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「使用此辨識」按鈕 → 自動填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6 AI 樹種辨識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32 / 45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 AI 樹種辨識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與字典 224 種對應 + 公式來源徽章透明度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841248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辨識流程銜接：AI 辨識 → 字典查找 → 公式來源 → 試算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系統自動把 AI 回的學名查 species/{zh} 字典 → 抓 wood density / equation source / 保育級 → 即時試算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743200"/>
            <a:ext cx="84124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7432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🟢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960120" y="27432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species-specific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34640" y="27432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該樹種有實證公式（如紅檜、台灣杉），準度最高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863840" y="274320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信心：高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429000"/>
            <a:ext cx="84124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4290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🟡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960120" y="34290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genus-default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834640" y="34290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同屬其他樹種公式 fallback（如殼斗科未列種）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863840" y="342900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信心：中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4114800"/>
            <a:ext cx="84124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1148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🟠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960120" y="41148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type-default-ipcc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834640" y="41148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IPCC tier-2 樹型 fallback（broadleaf / conifer / bamboo / palm / mangrove）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863840" y="411480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信心：低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6 AI 樹種辨識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33 / 45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物種字典 + 碳量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224 種台灣樹種 — 從 98 種擴充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402336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6916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224</a:t>
            </a:r>
            <a:endParaRPr lang="en-US" sz="12000" dirty="0"/>
          </a:p>
        </p:txBody>
      </p:sp>
      <p:sp>
        <p:nvSpPr>
          <p:cNvPr id="9" name="Text 7"/>
          <p:cNvSpPr/>
          <p:nvPr/>
        </p:nvSpPr>
        <p:spPr>
          <a:xfrm>
            <a:off x="365760" y="3108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  Firestore 共用字典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34747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涵蓋台灣常見人工林 + 天然林主要樹種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38862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（v2.7.10 早期 98 種 → v2.10 擴充 196 種 → v2.11 補充至 224 種）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0" y="1554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字典 schema 主要欄位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1965960"/>
            <a:ext cx="4206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sci, family, genus, treeType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aliases[]（別名 fuzzy 搜尋）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elevationMin_m / Max_m（海拔 band）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forestTypePreference[]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conservationGrade（I / II / III）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woodDensity_g_cm3 + 來源（taiwan-tfri 優先）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equationSource + Confidence + Citation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verified（admin 標記，true 才會 import 比對）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7 字典與碳量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34 / 45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物種字典 + 碳量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樹型 fallback 公式 — 涵蓋 167 物種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1600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" y="1691640"/>
            <a:ext cx="731520" cy="7315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🌳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11480" y="25146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闊葉樹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" y="28803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753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broadleaf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31546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~115 種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11480" y="345643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BEF 1.6 / WD 0.55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057400" y="1554480"/>
            <a:ext cx="1600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91740" y="1691640"/>
            <a:ext cx="731520" cy="7315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9174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🌲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2103120" y="25146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針葉樹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103120" y="28803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753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conifer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103120" y="31546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~35 種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03120" y="345643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BEF 1.3 / WD 0.40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749040" y="1554480"/>
            <a:ext cx="1600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83380" y="1691640"/>
            <a:ext cx="731520" cy="7315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8338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🎋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3794760" y="25146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竹類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794760" y="28803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753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bamboo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794760" y="31546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~10 種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94760" y="345643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特殊空稈方程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1554480"/>
            <a:ext cx="1600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75020" y="1691640"/>
            <a:ext cx="731520" cy="7315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7502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🌴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5486400" y="25146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棕櫚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0" y="28803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753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palm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0" y="31546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~5 種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0" y="345643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單幹方程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132320" y="1554480"/>
            <a:ext cx="1600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66660" y="1691640"/>
            <a:ext cx="731520" cy="7315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6666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🌿</a:t>
            </a:r>
            <a:endParaRPr lang="en-US" sz="3200" dirty="0"/>
          </a:p>
        </p:txBody>
      </p:sp>
      <p:sp>
        <p:nvSpPr>
          <p:cNvPr id="38" name="Text 36"/>
          <p:cNvSpPr/>
          <p:nvPr/>
        </p:nvSpPr>
        <p:spPr>
          <a:xfrm>
            <a:off x="7178040" y="25146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紅樹林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78040" y="28803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753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mangrove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178040" y="31546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~2 種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178040" y="345643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海岸特殊公式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65760" y="4023360"/>
            <a:ext cx="8412480" cy="68580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0233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機制：先查 species-specific（24 種有專屬公式）→ 沒有則 genus-default → 最後 type-default IPCC tier-2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永遠有公式可用，每筆碳量都標明來源信心等級（🟢🟡🟠）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7 字典與碳量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35 / 45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物種字典 + 碳量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公式來源透明 — 4 個層級 + 信心評等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🟢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60120" y="15544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species-specific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17520" y="15544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信心：high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15544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該樹種台灣學者實證公式（如：陳朝圳 1985 大雪山紅檜 power 方程）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863840" y="15544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~24 種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313432"/>
            <a:ext cx="84124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31343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🟡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60120" y="231343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genus-default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017520" y="231343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信心：medium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60520" y="2313432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同屬其他樹種公式 fallback（如殼斗屬已知樹種公式套未實證樹種）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863840" y="231343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~30 種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072384"/>
            <a:ext cx="84124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0723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🟠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60120" y="30723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type-default-ipcc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17520" y="307238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信心：low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60520" y="3072384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IPCC 2006 Guidelines tier-2 樹型平均（broadleaf / conifer / etc）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863840" y="307238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~167 種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831336"/>
            <a:ext cx="84124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83133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⚪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60120" y="383133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legacy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017520" y="383133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信心：—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160520" y="3831336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舊版資料未標來源（v2.10 之前匯入）— 提示 admin 補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863840" y="383133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少數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65760" y="46177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reviewer 一打開立木列表就看到每筆的徽章，可立即判斷需要重點核對哪些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7 字典與碳量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36 / 45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物種字典 + 碳量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海拔自動篩選 — DEM 偵測 + band pills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554480"/>
            <a:ext cx="1920240" cy="1554480"/>
          </a:xfrm>
          <a:prstGeom prst="rect">
            <a:avLst/>
          </a:prstGeom>
          <a:solidFill>
            <a:srgbClr val="F0FDF4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1691640"/>
            <a:ext cx="457200" cy="45720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286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建樣區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填 GPS 座標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rot="5400000">
            <a:off x="2400300" y="2286000"/>
            <a:ext cx="137160" cy="182880"/>
          </a:xfrm>
          <a:prstGeom prst="rtTriangl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0" y="1554480"/>
            <a:ext cx="1920240" cy="1554480"/>
          </a:xfrm>
          <a:prstGeom prst="rect">
            <a:avLst/>
          </a:prstGeom>
          <a:solidFill>
            <a:srgbClr val="F0FDF4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91840" y="1691640"/>
            <a:ext cx="457200" cy="45720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651760" y="2286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open-meteo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5176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 API 自動 fetch 海拔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rot="5400000">
            <a:off x="4503420" y="2286000"/>
            <a:ext cx="137160" cy="182880"/>
          </a:xfrm>
          <a:prstGeom prst="rtTriangl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1554480"/>
            <a:ext cx="1920240" cy="1554480"/>
          </a:xfrm>
          <a:prstGeom prst="rect">
            <a:avLst/>
          </a:prstGeom>
          <a:solidFill>
            <a:srgbClr val="F0FDF4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94960" y="1691640"/>
            <a:ext cx="457200" cy="45720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754880" y="2286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 plot doc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5488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plot.elevation_m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plot.elevationSource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rot="5400000">
            <a:off x="6606540" y="2286000"/>
            <a:ext cx="137160" cy="182880"/>
          </a:xfrm>
          <a:prstGeom prst="rtTriangl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0" y="1554480"/>
            <a:ext cx="1920240" cy="1554480"/>
          </a:xfrm>
          <a:prstGeom prst="rect">
            <a:avLst/>
          </a:prstGeom>
          <a:solidFill>
            <a:srgbClr val="F0FDF4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0" y="1691640"/>
            <a:ext cx="457200" cy="45720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58000" y="2286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picker 推 band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5800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 (&gt;2500) 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 (1000-2500) 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 (&lt;1000)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3383280"/>
            <a:ext cx="841248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34564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結果範例：樣區海拔 1450 m → picker 推「中海拔 band」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02920" y="3886200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3886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 (&lt;1000m)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514600" y="3886200"/>
            <a:ext cx="1828800" cy="36576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14600" y="3886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 (1000–2500m)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26280" y="3886200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26280" y="3886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 (&gt;2500m)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0292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自動排除其他海拔常見樹種，picker top 列表只顯示中海拔 ~80 種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7 字典與碳量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37 / 45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開發歷程 +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版本演進 — 從 v2.0 到 v2.11.7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743200"/>
            <a:ext cx="7955280" cy="0"/>
          </a:xfrm>
          <a:prstGeom prst="line">
            <a:avLst/>
          </a:prstGeom>
          <a:noFill/>
          <a:ln w="38100">
            <a:solidFill>
              <a:srgbClr val="1580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560320"/>
            <a:ext cx="365760" cy="36576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0" y="18288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v2.0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0" y="2148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基礎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-137160" y="3200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角色 + Lock + CRUD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048256" y="2560320"/>
            <a:ext cx="365760" cy="36576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48256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91056" y="18288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v2.7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91056" y="2148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字典 + QAQC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453896" y="3200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樹種字典 + reviewer 抽樣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39312" y="2560320"/>
            <a:ext cx="365760" cy="36576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39312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82112" y="18288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v2.8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182112" y="2148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幾何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44952" y="3200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雙軸坡度 + irregular plot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30368" y="2560320"/>
            <a:ext cx="365760" cy="36576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30368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773168" y="18288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v2.9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773168" y="2148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636008" y="3200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per-plot + 矩陣 + heat map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21424" y="2560320"/>
            <a:ext cx="365760" cy="36576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21424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64224" y="18288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v2.10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364224" y="2148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27064" y="3200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224 物種 + 公式徽章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412480" y="2560320"/>
            <a:ext cx="365760" cy="36576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412480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955280" y="18288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v2.11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955280" y="2148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18120" y="3200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 AI 雙模型辨識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65760" y="4069080"/>
            <a:ext cx="8412480" cy="640080"/>
          </a:xfrm>
          <a:prstGeom prst="rect">
            <a:avLst/>
          </a:prstGeom>
          <a:solidFill>
            <a:srgbClr val="F0FDF4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690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 約 12 個月開發（2025-05 → 2026-05）  ｜  🔁 13 次正式 deploy  ｜  📦 50+ commit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8 開發歷程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38 / 45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開發歷程 +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當前狀態（2026-05）— v2.11.7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2011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554480"/>
            <a:ext cx="2011680" cy="7315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7830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v2.11.7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11480" y="26060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當前版本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14600" y="1554480"/>
            <a:ext cx="2011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14600" y="1554480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7830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891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2560320" y="26060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 deploy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1554480"/>
            <a:ext cx="2011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1554480"/>
            <a:ext cx="2011680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17830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224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709160" y="26060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樹種字典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12280" y="1554480"/>
            <a:ext cx="2011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2280" y="1554480"/>
            <a:ext cx="2011680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17830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 AI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858000" y="26060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辨識架構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3200400"/>
            <a:ext cx="4114800" cy="1508760"/>
          </a:xfrm>
          <a:prstGeom prst="rect">
            <a:avLst/>
          </a:prstGeom>
          <a:solidFill>
            <a:srgbClr val="F0FDF4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2918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 已上線功能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2920" y="361188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角色完整工作流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PlantNet + Claude AI 辨識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QAQC 抽樣重測簽發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Dashboard + Excel 匯出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63440" y="3200400"/>
            <a:ext cx="4114800" cy="150876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32918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🚧  Phase 3 規劃中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800600" y="361188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離線 TFJS 辨識（不上 cloud）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iNaturalist Taiwan 訓練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FMP Word 章節自動撰寫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跨計畫圖層整合（GIS）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8 開發歷程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39 / 45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開發歷程 +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3 規劃 — 離線 AI + 在地化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8412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554480"/>
            <a:ext cx="91440" cy="9144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37360"/>
            <a:ext cx="548640" cy="54864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📴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371600" y="1645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離線 TFJS 辨識模型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2011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PlantNet 結果蒸餾成輕量 model（~30 MB）→ 純瀏覽器跑，野外無網路也能辨識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 2026 Q3 釋出 beta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606040"/>
            <a:ext cx="8412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606040"/>
            <a:ext cx="91440" cy="9144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88920"/>
            <a:ext cx="548640" cy="54864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🌏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371600" y="2697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iNaturalist Taiwan dataset 訓練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3063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iNat 台灣社群開放圖庫（已登記 ~50 萬張植物照）fine-tune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比 PlantNet 通用模型更懂台灣特有種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657600"/>
            <a:ext cx="8412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657600"/>
            <a:ext cx="91440" cy="914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84048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371600" y="3749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FMP Word 章節自動撰寫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71600" y="4114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ForestMRV 資料 → 林業署 7 章範本 → 一鍵生 docx 草稿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（接 docx-cjk skill）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46177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開源 repo 歡迎 fork、issue、PR — 林業同行共同維護更穩定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8 開發歷程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40 / 45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開發歷程 +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未來整合 — 從監測 App 到森林 OS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0" y="2468880"/>
            <a:ext cx="1828800" cy="182880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0" y="246888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（核心）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164592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645920"/>
            <a:ext cx="1097280" cy="1097280"/>
          </a:xfrm>
          <a:prstGeom prst="ellipse">
            <a:avLst/>
          </a:prstGeom>
          <a:solidFill>
            <a:srgbClr val="F8FAFC"/>
          </a:solidFill>
          <a:ln w="25400">
            <a:solidFill>
              <a:srgbClr val="65A30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6916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2960" y="21488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FMP Word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自動撰寫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761974" y="2308858"/>
            <a:ext cx="1955929" cy="747855"/>
          </a:xfrm>
          <a:prstGeom prst="line">
            <a:avLst/>
          </a:prstGeom>
          <a:noFill/>
          <a:ln w="12700">
            <a:solidFill>
              <a:srgbClr val="65A30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914400" y="365760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657600"/>
            <a:ext cx="1097280" cy="1097280"/>
          </a:xfrm>
          <a:prstGeom prst="ellipse">
            <a:avLst/>
          </a:prstGeom>
          <a:solidFill>
            <a:srgbClr val="F8FAFC"/>
          </a:solidFill>
          <a:ln w="25400">
            <a:solidFill>
              <a:srgbClr val="65A30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7033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🌱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22960" y="41605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碳匯方法學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AR-TMS 銜接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772424" y="4124344"/>
            <a:ext cx="1915620" cy="-507076"/>
          </a:xfrm>
          <a:prstGeom prst="line">
            <a:avLst/>
          </a:prstGeom>
          <a:noFill/>
          <a:ln w="12700">
            <a:solidFill>
              <a:srgbClr val="65A30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400800" y="164592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1645920"/>
            <a:ext cx="1097280" cy="1097280"/>
          </a:xfrm>
          <a:prstGeom prst="ellipse">
            <a:avLst/>
          </a:prstGeom>
          <a:solidFill>
            <a:srgbClr val="F8FAFC"/>
          </a:solidFill>
          <a:ln w="25400">
            <a:solidFill>
              <a:srgbClr val="65A30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16916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🗺️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309360" y="21488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林業署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圖層整合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663188" y="2337686"/>
            <a:ext cx="-1273323" cy="636662"/>
          </a:xfrm>
          <a:prstGeom prst="line">
            <a:avLst/>
          </a:prstGeom>
          <a:noFill/>
          <a:ln w="12700">
            <a:solidFill>
              <a:srgbClr val="65A30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400800" y="365760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3657600"/>
            <a:ext cx="1097280" cy="1097280"/>
          </a:xfrm>
          <a:prstGeom prst="ellipse">
            <a:avLst/>
          </a:prstGeom>
          <a:solidFill>
            <a:srgbClr val="F8FAFC"/>
          </a:solidFill>
          <a:ln w="25400">
            <a:solidFill>
              <a:srgbClr val="65A30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37033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309360" y="41605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多語言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（英 / 越）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647007" y="4101552"/>
            <a:ext cx="-1210911" cy="-419162"/>
          </a:xfrm>
          <a:prstGeom prst="line">
            <a:avLst/>
          </a:prstGeom>
          <a:noFill/>
          <a:ln w="12700">
            <a:solidFill>
              <a:srgbClr val="65A30D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657600" y="15544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0" y="1554480"/>
            <a:ext cx="1097280" cy="1097280"/>
          </a:xfrm>
          <a:prstGeom prst="ellipse">
            <a:avLst/>
          </a:prstGeom>
          <a:solidFill>
            <a:srgbClr val="F8FAFC"/>
          </a:solidFill>
          <a:ln w="25400">
            <a:solidFill>
              <a:srgbClr val="65A30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0" y="16002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🚁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566160" y="20574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無人機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LiDAR 接入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94162" y="2410846"/>
            <a:ext cx="26633" cy="93216"/>
          </a:xfrm>
          <a:prstGeom prst="line">
            <a:avLst/>
          </a:prstGeom>
          <a:noFill/>
          <a:ln w="12700">
            <a:solidFill>
              <a:srgbClr val="65A30D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657600" y="420624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57600" y="4206240"/>
            <a:ext cx="1097280" cy="1097280"/>
          </a:xfrm>
          <a:prstGeom prst="ellipse">
            <a:avLst/>
          </a:prstGeom>
          <a:solidFill>
            <a:srgbClr val="F8FAFC"/>
          </a:solidFill>
          <a:ln w="25400">
            <a:solidFill>
              <a:srgbClr val="65A30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0" y="42519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3566160" y="470916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智慧樣區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(IoT 感測)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288702" y="4445646"/>
            <a:ext cx="47691" cy="-178841"/>
          </a:xfrm>
          <a:prstGeom prst="line">
            <a:avLst/>
          </a:prstGeom>
          <a:noFill/>
          <a:ln w="12700">
            <a:solidFill>
              <a:srgbClr val="65A30D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8 開發歷程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41 / 45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下午練習引導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 hands-on 情境總覽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2743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45920"/>
            <a:ext cx="731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1234440" y="1691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建專案 + 加成員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1488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30 min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234440" y="24231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admin / PI 視角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554480"/>
            <a:ext cx="2743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645920"/>
            <a:ext cx="731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4069080" y="1691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建樣區 + 雙軸坡度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69080" y="21488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30 min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069080" y="24231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surveyor 入門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35040" y="1554480"/>
            <a:ext cx="2743200" cy="137160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645920"/>
            <a:ext cx="731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5600" dirty="0"/>
          </a:p>
        </p:txBody>
      </p:sp>
      <p:sp>
        <p:nvSpPr>
          <p:cNvPr id="19" name="Text 17"/>
          <p:cNvSpPr/>
          <p:nvPr/>
        </p:nvSpPr>
        <p:spPr>
          <a:xfrm>
            <a:off x="6903720" y="1691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立木 + AI 辨識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03720" y="21488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30 min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03720" y="24231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A58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 重點練習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3108960"/>
            <a:ext cx="2743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200400"/>
            <a:ext cx="731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5600" dirty="0"/>
          </a:p>
        </p:txBody>
      </p:sp>
      <p:sp>
        <p:nvSpPr>
          <p:cNvPr id="24" name="Text 22"/>
          <p:cNvSpPr/>
          <p:nvPr/>
        </p:nvSpPr>
        <p:spPr>
          <a:xfrm>
            <a:off x="1234440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reviewer QAQC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34440" y="37033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30 min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34440" y="39776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抽樣重測流程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00400" y="3108960"/>
            <a:ext cx="2743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3200400"/>
            <a:ext cx="731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5600" dirty="0"/>
          </a:p>
        </p:txBody>
      </p:sp>
      <p:sp>
        <p:nvSpPr>
          <p:cNvPr id="29" name="Text 27"/>
          <p:cNvSpPr/>
          <p:nvPr/>
        </p:nvSpPr>
        <p:spPr>
          <a:xfrm>
            <a:off x="4069080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Dashboard + Excel 匯出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069080" y="37033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30 min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069080" y="39776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報表與分析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35040" y="3108960"/>
            <a:ext cx="2743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3200400"/>
            <a:ext cx="731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5600" dirty="0"/>
          </a:p>
        </p:txBody>
      </p:sp>
      <p:sp>
        <p:nvSpPr>
          <p:cNvPr id="34" name="Text 32"/>
          <p:cNvSpPr/>
          <p:nvPr/>
        </p:nvSpPr>
        <p:spPr>
          <a:xfrm>
            <a:off x="6903720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FMP 銜接 + 收尾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903720" y="37033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15 min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903720" y="39776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完整工作流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共 ~ 2.5 小時練習 + 0.5 小時 Q&amp;A 與彈性  ｜  下午 13:30 開始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9 下午練習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42 / 45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926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783080" y="292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753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下午練習引導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練習前 3 個必備檢查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73152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554480"/>
            <a:ext cx="27432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71600" y="1691640"/>
            <a:ext cx="731520" cy="7315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📱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 / 平板權限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92608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相機（拍照辨識用）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GPS 定位（建樣區用）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麥克風（不需要）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4251960"/>
            <a:ext cx="2560320" cy="36576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4251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241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第一次點功能時瀏覽器會問，務必選「允許」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0" y="1554480"/>
            <a:ext cx="27432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06240" y="1691640"/>
            <a:ext cx="731520" cy="7315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📡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3291840" y="2514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WiFi 連線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383280" y="292608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workshop 場地 SSID 已備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密碼會場有貼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辨識「完全需要」連網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一般填表可離線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4251960"/>
            <a:ext cx="2560320" cy="36576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251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241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若 WiFi 不穩可開個人熱點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35040" y="1554480"/>
            <a:ext cx="27432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040880" y="1691640"/>
            <a:ext cx="731520" cy="7315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🔐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6126480" y="2514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登入過一次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217920" y="292608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用「將被加進專案」的 email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到網址 https://forestry-rs-monitor.web.app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點「使用 Google 登入」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C19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看到「我的專案」即成功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126480" y="4251960"/>
            <a:ext cx="2560320" cy="36576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72200" y="4251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241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⚠ admin 需要你的 users doc 存在才能加入專案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846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Section 9 下午練習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ForestMRV v2.11.7  |  43 / 45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5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&amp; A</a:t>
            </a:r>
            <a:endParaRPr lang="en-US" sz="8000" dirty="0"/>
          </a:p>
        </p:txBody>
      </p:sp>
      <p:sp>
        <p:nvSpPr>
          <p:cNvPr id="3" name="Shape 1"/>
          <p:cNvSpPr/>
          <p:nvPr/>
        </p:nvSpPr>
        <p:spPr>
          <a:xfrm>
            <a:off x="4114800" y="1920240"/>
            <a:ext cx="91440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194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D9F9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歡迎提問 — 任何問題都可以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371600" y="2926080"/>
            <a:ext cx="6400800" cy="1554480"/>
          </a:xfrm>
          <a:prstGeom prst="rect">
            <a:avLst/>
          </a:prstGeom>
          <a:solidFill>
            <a:srgbClr val="16653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08760" y="30175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F2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討論議題建議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338328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想用在自己的研究 / 計畫，怎麼開始？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碳匯計算公式選擇 / 不確定性怎麼解釋給審查委員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辨識準度問題 / 保育類樹種辨識限制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我的單位（縣市府 / 林管處）能不能採用？資料安全？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5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謝謝聆聽</a:t>
            </a:r>
            <a:endParaRPr lang="en-US" sz="6400" dirty="0"/>
          </a:p>
        </p:txBody>
      </p:sp>
      <p:sp>
        <p:nvSpPr>
          <p:cNvPr id="3" name="Shape 1"/>
          <p:cNvSpPr/>
          <p:nvPr/>
        </p:nvSpPr>
        <p:spPr>
          <a:xfrm>
            <a:off x="4114800" y="1828800"/>
            <a:ext cx="91440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D9F9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森林經營，從一棵樹的真實資料開始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2606040" cy="1691640"/>
          </a:xfrm>
          <a:prstGeom prst="rect">
            <a:avLst/>
          </a:prstGeom>
          <a:solidFill>
            <a:srgbClr val="16653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54480" y="2971800"/>
            <a:ext cx="594360" cy="59436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971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🐙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36118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EF2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repo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8862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cct7366488-collab/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2026-forestry-rs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434340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6EF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github.com (公開)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91840" y="2834640"/>
            <a:ext cx="2606040" cy="1691640"/>
          </a:xfrm>
          <a:prstGeom prst="rect">
            <a:avLst/>
          </a:prstGeom>
          <a:solidFill>
            <a:srgbClr val="16653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2971800"/>
            <a:ext cx="594360" cy="59436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2971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🌐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383280" y="36118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EF2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生產系統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8862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forestry-rs-monitor.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web.app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83280" y="434340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6EF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PWA 直接開即用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035040" y="2834640"/>
            <a:ext cx="2606040" cy="1691640"/>
          </a:xfrm>
          <a:prstGeom prst="rect">
            <a:avLst/>
          </a:prstGeom>
          <a:solidFill>
            <a:srgbClr val="16653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40880" y="2971800"/>
            <a:ext cx="594360" cy="59436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971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✉️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126480" y="36118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EF2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講者聯絡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26480" y="38862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陳朝圳 教授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屏東科技大學森林系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26480" y="434340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6EF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會後可加 LINE / email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ForestMRV  v2.11.7   ｜   2026-05  Workshop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ForestMRV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ForestMRV 智慧森林監測平臺</dc:title>
  <dc:subject>PptxGenJS Presentation</dc:subject>
  <dc:creator>陳朝圳</dc:creator>
  <cp:lastModifiedBy>陳朝圳</cp:lastModifiedBy>
  <cp:revision>1</cp:revision>
  <dcterms:created xsi:type="dcterms:W3CDTF">2026-05-03T06:49:48Z</dcterms:created>
  <dcterms:modified xsi:type="dcterms:W3CDTF">2026-05-03T06:49:48Z</dcterms:modified>
</cp:coreProperties>
</file>