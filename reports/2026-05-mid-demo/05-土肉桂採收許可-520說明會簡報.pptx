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開場：今天說明的是土肉桂葉片採收許可的電子化系統。重點是讓林農、臺中分署、合作社三方在同一套系統運作，且電子流程與紙本正式發文同步、不漂移。系統已實際上線，稍後現場操作示範。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左邊是現行紙本痛點，右邊是這套系統要解的目標。最關鍵的一句：電子化與紙本正式發文「同一資料來源」，所以兩邊不會對不起來。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三個角色、各司其職。特別強調：核准權只在分署；合作社是唯讀。下方是一件申請從草稿到結案的完整狀態流程，金色那格「核准」就是產生法定文號的關鍵節點。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申請表單欄位完全對應現行林產物採取申請書，林農沒有額外負擔。重點操作：可先存草稿分次填，送出後就鎖定、進入分署審核。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這是申請端的紙本正式文件。林農填完線上表單，就能一鍵產生這份標準公文函稿、列印或存 PDF 送件。請特別介紹最下方「分署收文欄」——那是電子與紙本雙軌的交會點。重點是：這份公文是即時從線上資料算出來，不是另存一份會走樣的副本。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准是整個流程的法律關鍵。分署按下核准，系統立刻用資料庫交易機制原子產生這個許可文號，技術上保證不重號——等同線上發證。紙本許可單上會帶這個文號和核章欄。也要強調：審核者只能改狀態與審核欄位，動不了林農的申請內容，這是規則層鎖死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收穫量可以分批登錄，系統自動累加並對照核准量。三段顏色：正常綠、接近黃、超量紅。種子資料裡吳國雄那案就是超量紅燈，現場可直接展示。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結案後紀錄就固定下來。許可單彙整了從發證到收穫的完整資訊，雙方都能隨時調閱列印。整條鏈路全程留痕、可查證，這對主管機關稽核很重要。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這是合作社最在意的一頁。上方三個數字一眼看懂規模；下方表格依林農拆解：已實現就是可以投入共同銷售的量，Pipeline 是還在流程中的預估量。合作社用這頁規劃共同銷售。數字都是現在系統裡的真實 demo 資料。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對主管機關，資安是審查重點。最有力的一句：合作社的唯讀不是介面藏按鈕，是資料庫規則結構上保證的，前端再怎麼改也寫不進去。分署也一樣，只能動審核相關欄位，碰不了林農申請內容。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系統已實際上線，不是原型。已預先種入 10 筆橫跨各狀態的 demo 案、5 個許可文號、7 筆收穫紀錄，合作社頁可見 168 公斤可售量。一個簡報帳號就能演示申請、審核、彙整三個分頁。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這些是會後依各位回饋優先補強的項目，目前刻意不做，先把核心流程做穩、讓大家看到全貌。今天最重要的是蒐集三方的具體意見。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收尾一句話：電子與紙本雙軌同步、全程可查證。接下來直接進系統實機操作示範，照 demo 腳本走，邊操作邊回答問題。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264A2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97BC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土肉桂專區 ▍林產物採取許可電子化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土肉桂葉片採收許可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電子化系統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林業及自然保育署臺中分署　×　林業合作社　×　林農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2120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電子化作業 ＋ 紙本正式發文　雙軌同步、全程留痕可查證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FB89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2026-05-20 說明會　｜　ForestMRV v2.11.37（已上線 prod）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壹、為何要做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行政痛點　→　電子化＋紙本雙軌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4767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261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現行痛點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423160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紙本申請、往返分署，流程冗長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採收量事後申報，難即時勾稽核准量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許可文號人工編列，易重號、難追溯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合作社不易即時掌握各林農採收進度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電子與紙本各做一套，資料易不一致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257800" cy="4297680"/>
          </a:xfrm>
          <a:prstGeom prst="roundRect">
            <a:avLst>
              <a:gd name="adj" fmla="val 1702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629400" y="194767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系統目標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629400" y="2423160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線上申請、線上核准、線上收穫登錄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核准即時產生「不可重號」法定許可文號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採收量分批登錄，累計即時對照核准量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合作社唯讀掌握全專區、彙整供共同銷售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同一筆資料即時產生公文／許可單，不漂移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貳、系統總覽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三方角色與案件流程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56432" cy="2286000"/>
          </a:xfrm>
          <a:prstGeom prst="roundRect">
            <a:avLst>
              <a:gd name="adj" fmla="val 3200"/>
            </a:avLst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975104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96112" y="2606040"/>
            <a:ext cx="2944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提出申請、存草稿、送出；核准後登錄收穫量、結案；下載申請公文稿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89120" y="1737360"/>
            <a:ext cx="3456432" cy="2286000"/>
          </a:xfrm>
          <a:prstGeom prst="roundRect">
            <a:avLst>
              <a:gd name="adj" fmla="val 3200"/>
            </a:avLst>
          </a:prstGeom>
          <a:solidFill>
            <a:srgbClr val="3C6E47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1975104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林業保育署臺中分署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45152" y="2606040"/>
            <a:ext cx="2944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 / 駁回 / 要求補件；核准即發法定許可文號（唯一具核准權）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38160" y="1737360"/>
            <a:ext cx="3456432" cy="2286000"/>
          </a:xfrm>
          <a:prstGeom prst="roundRect">
            <a:avLst>
              <a:gd name="adj" fmla="val 3200"/>
            </a:avLst>
          </a:prstGeom>
          <a:solidFill>
            <a:srgbClr val="6E8B3D"/>
          </a:solidFill>
          <a:ln/>
        </p:spPr>
      </p:sp>
      <p:sp>
        <p:nvSpPr>
          <p:cNvPr id="11" name="Text 9"/>
          <p:cNvSpPr/>
          <p:nvPr/>
        </p:nvSpPr>
        <p:spPr>
          <a:xfrm>
            <a:off x="8394192" y="1975104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林業合作社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94192" y="2606040"/>
            <a:ext cx="2944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唯讀掌握全專區申請與收穫；依林農彙整供共同銷售（無寫入權）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案件狀態流程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草稿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377440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23744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23744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送出待審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261104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7408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7408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分署審核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144768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91072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91072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核准（生文號）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28432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74736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74736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收穫量登錄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912096" y="4983480"/>
            <a:ext cx="1463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058400" y="4983480"/>
            <a:ext cx="1755648" cy="603504"/>
          </a:xfrm>
          <a:prstGeom prst="roundRect">
            <a:avLst>
              <a:gd name="adj" fmla="val 9091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0" y="4983480"/>
            <a:ext cx="17556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結案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724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另：駁回＝終結；要求補件＝退回林農補正後再送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參、申請表單的填寫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林農端：一張表完成採收申請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169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欄位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 / 範例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申請人 / 聯絡方式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林農姓名、電話或 email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林班 / 地號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林地坐落（如：大甲溪事業區 12 林班 3 小班）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採收面積 / 估計株數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公頃；土肉桂母樹概估株數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採收方式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修枝採葉（預設）／截幹採葉／其他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預計鮮葉量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本次申請採收公斤數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採收期間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預計起迄日期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精油萃取／乾燥食用／兩者皆有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備註 / 操作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可「儲存草稿」續填；「送出申請」後待審不可改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肆、申請公文的呈現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一鍵產生「林產物採取申請函」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7040880" cy="457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7C8B7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4708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林產物採取申請函（土肉桂葉片）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63093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受文者：林業及自然保育署臺中分署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發文日期：中華民國 115 年 5 月 16 日　發文字號：（自編／免填）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主旨：申請於○○林班採取土肉桂葉片乙案，請　核准。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說明：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一、申請人、聯絡方式　二、林地坐落及權屬、面積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三、採取標的與方式（修枝採葉）　四、預計採取數量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五、採取期間　六、用途　七、檢附文件如附件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申請人：____________（簽章）　申請日期：115.05.16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（以下由臺中分署收件填用）收文日期____ 收文文號____ 承辦____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0" y="1691640"/>
            <a:ext cx="3504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2057400"/>
            <a:ext cx="3504895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草稿或送出後皆可下載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標準公文「函」格式，可列印／另存 PDF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供紙本正式發文送件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「分署收文欄」＝電子與紙本交會點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與線上同一資料來源，內容不漂移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伍、核准表單的文號呈現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分署核准即「線上發證」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852160" cy="1554480"/>
          </a:xfrm>
          <a:prstGeom prst="roundRect">
            <a:avLst>
              <a:gd name="adj" fmla="val 4706"/>
            </a:avLst>
          </a:prstGeom>
          <a:solidFill>
            <a:srgbClr val="1E3A1E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9385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核准許可文號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26771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林保中-土肉桂採葉-115-001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12280" y="1783080"/>
            <a:ext cx="4739335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分署端僅可：核准 / 駁回 / 要求補件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核准當下以資料庫「交易」原子產生文號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同一專案保證連號、不可重號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文號＝線上發證；紙本許可單含文號＋核章欄</a:t>
            </a:r>
            <a:endParaRPr lang="en-US" sz="15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審核者不可竄改申請內容（規則層 affectedKeys 鎖定）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送審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28800" y="3703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03120" y="37033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9A227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0312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分署核准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91840" y="3703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566160" y="37033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產生文號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37033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7BC62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37033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7033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列印許可單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44348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已種子文號：林保中-土肉桂採葉-115-901 ~ 905</a:t>
            </a: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（保留區，現場 live 核准仍從 001 起）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陸、收穫量登錄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分批登錄、累計即時對照核准量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採收常分批：每次登錄採收日、鮮葉重、乾葉重、含水率、批次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系統即時加總，對照核准量顯示百分比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 90% 轉黃提醒、超過 100% 轉紅警示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超量當場攔阻，林農與分署同步看得到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858000" y="19202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正常：已登錄 45 / 核准 60 kg（75%）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58000" y="2212848"/>
            <a:ext cx="4480560" cy="365760"/>
          </a:xfrm>
          <a:prstGeom prst="roundRect">
            <a:avLst>
              <a:gd name="adj" fmla="val 10000"/>
            </a:avLst>
          </a:prstGeom>
          <a:solidFill>
            <a:srgbClr val="E7ECDF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0" y="2212848"/>
            <a:ext cx="3360420" cy="365760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0" y="2834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接近：已登錄 56 / 核准 60 kg（93%）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0" y="3127248"/>
            <a:ext cx="4480560" cy="365760"/>
          </a:xfrm>
          <a:prstGeom prst="roundRect">
            <a:avLst>
              <a:gd name="adj" fmla="val 10000"/>
            </a:avLst>
          </a:prstGeom>
          <a:solidFill>
            <a:srgbClr val="E7ECDF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0" y="3127248"/>
            <a:ext cx="4166921" cy="365760"/>
          </a:xfrm>
          <a:prstGeom prst="roundRect">
            <a:avLst>
              <a:gd name="adj" fmla="val 10000"/>
            </a:avLst>
          </a:prstGeom>
          <a:solidFill>
            <a:srgbClr val="B26A00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37490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超量：已登錄 85 / 核准 80 kg（106%）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0" y="4041648"/>
            <a:ext cx="4480560" cy="365760"/>
          </a:xfrm>
          <a:prstGeom prst="roundRect">
            <a:avLst>
              <a:gd name="adj" fmla="val 10000"/>
            </a:avLst>
          </a:prstGeom>
          <a:solidFill>
            <a:srgbClr val="E7ECDF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0" y="4041648"/>
            <a:ext cx="4480560" cy="365760"/>
          </a:xfrm>
          <a:prstGeom prst="roundRect">
            <a:avLst>
              <a:gd name="adj" fmla="val 10000"/>
            </a:avLst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0" y="4297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demo-08 吳國雄案即為超量紅燈示例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柒、結案與採收許可單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紀錄固定、可列印歸檔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0" y="1783080"/>
            <a:ext cx="8351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採收期結束後結案，案件紀錄固定，作為後續查核依據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843784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8437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採收許可單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00400" y="2843784"/>
            <a:ext cx="8351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含許可文號、核准量、效期、完整收穫紀錄與累計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904488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904488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雙方檢視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0" y="3904488"/>
            <a:ext cx="8351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林農與分署皆可隨時調閱、列印（含分署核章欄）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965192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96519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全程留痕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00400" y="4965192"/>
            <a:ext cx="8351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申請→發證→收穫申報→結案，逐步可查證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捌、合作社可看到的彙整內容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掌握全專區 ▍共同銷售規劃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383280" cy="1078992"/>
          </a:xfrm>
          <a:prstGeom prst="roundRect">
            <a:avLst>
              <a:gd name="adj" fmla="val 5932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5564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件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申請案（已送出起）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383280" cy="1078992"/>
          </a:xfrm>
          <a:prstGeom prst="roundRect">
            <a:avLst>
              <a:gd name="adj" fmla="val 5932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5564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件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4805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已核准 / 採收 / 結案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0" y="1645920"/>
            <a:ext cx="3383280" cy="1078992"/>
          </a:xfrm>
          <a:prstGeom prst="roundRect">
            <a:avLst>
              <a:gd name="adj" fmla="val 5932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0" y="175564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 kg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1381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E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已實現可售鮮葉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2743200"/>
                <a:gridCol w="2651760"/>
                <a:gridCol w="17647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林農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案件數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已實現鮮葉(kg)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Pipeline估(kg)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3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林大山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精油萃取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吳國雄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兩者皆有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王美桂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乾燥食用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張春生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精油萃取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黃秋蘭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乾燥食用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陳阿土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乾燥食用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李文清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3311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精油萃取（已駁回）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「已實現」＝實際登錄收穫累計（採收中／已結案）即可投入共同銷售；Pipeline＝已送出／已核准但尚未採收之預估量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玖、權限與資安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三方權責分立、最小權限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56432" cy="1828800"/>
          </a:xfrm>
          <a:prstGeom prst="roundRect">
            <a:avLst>
              <a:gd name="adj" fmla="val 4000"/>
            </a:avLst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38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95728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申請、收穫登錄、結案、下載公文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456432" cy="1828800"/>
          </a:xfrm>
          <a:prstGeom prst="roundRect">
            <a:avLst>
              <a:gd name="adj" fmla="val 4000"/>
            </a:avLst>
          </a:prstGeom>
          <a:solidFill>
            <a:srgbClr val="3C6E4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0" y="1938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臺中分署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0" y="2395728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 / 駁回 / 補件、發文號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46720" y="1737360"/>
            <a:ext cx="3456432" cy="1828800"/>
          </a:xfrm>
          <a:prstGeom prst="roundRect">
            <a:avLst>
              <a:gd name="adj" fmla="val 4000"/>
            </a:avLst>
          </a:prstGeom>
          <a:solidFill>
            <a:srgbClr val="6E8B3D"/>
          </a:solidFill>
          <a:ln/>
        </p:spPr>
      </p:sp>
      <p:sp>
        <p:nvSpPr>
          <p:cNvPr id="11" name="Text 9"/>
          <p:cNvSpPr/>
          <p:nvPr/>
        </p:nvSpPr>
        <p:spPr>
          <a:xfrm>
            <a:off x="8275320" y="1938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75320" y="2395728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AF0E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唯讀彙整（無任何寫入）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10911535" cy="2148840"/>
          </a:xfrm>
          <a:prstGeom prst="roundRect">
            <a:avLst>
              <a:gd name="adj" fmla="val 2979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資安設計重點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315968"/>
            <a:ext cx="1027145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合作社「唯讀」是資料庫規則「結構上」保證，不是靠介面藏按鈕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分署只能改狀態／審核欄位／文號，動不了申請內容（affectedKeys 鎖定）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林農看不到他人案件；越權寫入伺服器端直接拒絕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電子與紙本同一資料來源，杜絕兩套對不起來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拾、Demo 環境現況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系統已上線、資料已就緒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4767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v2.11.37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496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E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已上線 prod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78308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94767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筆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0" y="2496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採收案（含 1 草稿）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78308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194767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75320" y="2496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許可文號 115-901~905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021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筆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68680" y="40507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ED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收穫量登錄紀錄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33756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5021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168 kg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572000" y="40507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合作社可見可售鮮葉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3337560"/>
            <a:ext cx="3456432" cy="1325880"/>
          </a:xfrm>
          <a:prstGeom prst="roundRect">
            <a:avLst>
              <a:gd name="adj" fmla="val 4828"/>
            </a:avLst>
          </a:prstGeom>
          <a:solidFill>
            <a:srgbClr val="F4F6F1"/>
          </a:solidFill>
          <a:ln w="12700">
            <a:solidFill>
              <a:srgbClr val="CBD5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35021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帳號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275320" y="40507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即可演示三分頁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系統網址：https://forestry-rs-monitor.web.app　（現場以簡報帳號登入，實機操作示範）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拾壹、後續規劃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依現場回饋再修細部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11535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附件上傳：地籍圖、現場照片併附於申請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收穫總表 Excel 匯出：供合作社共同銷售作業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分署抽查 / 查核流程：實地勘查紀錄數位化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正式公文 PDF 用印格式：與公文系統介接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331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欄位與用語：依臺中分署實務需求調整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669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本日重點為蒐集三方意見，作為下一輪修改依據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37215" y="6400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572000"/>
            <a:ext cx="3840480" cy="3840480"/>
          </a:xfrm>
          <a:prstGeom prst="ellipse">
            <a:avLst/>
          </a:prstGeom>
          <a:solidFill>
            <a:srgbClr val="264A26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371600"/>
            <a:ext cx="3291840" cy="32918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97BC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結語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電子化 ＋ 紙本正式發文，雙軌同步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全程留痕、可查證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現場將進行系統實機操作示範　—　歡迎提問與指教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029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&amp; A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土肉桂葉片採收許可電子化系統 — 5/20 說明會</dc:title>
  <dc:subject>PptxGenJS Presentation</dc:subject>
  <dc:creator>ForestMRV</dc:creator>
  <cp:lastModifiedBy>ForestMRV</cp:lastModifiedBy>
  <cp:revision>1</cp:revision>
  <dcterms:created xsi:type="dcterms:W3CDTF">2026-05-16T03:45:55Z</dcterms:created>
  <dcterms:modified xsi:type="dcterms:W3CDTF">2026-05-16T03:45:55Z</dcterms:modified>
</cp:coreProperties>
</file>