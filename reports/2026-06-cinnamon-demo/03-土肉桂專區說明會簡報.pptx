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6" d="100"/>
          <a:sy n="66" d="100"/>
        </p:scale>
        <p:origin x="1224" y="2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359867-4425-46BD-857C-4F3BA0126356}" type="datetimeFigureOut">
              <a:rPr lang="zh-TW" altLang="en-US" smtClean="0"/>
              <a:t>2026/5/30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79043D-6E2F-44E1-9C9C-62CDA465F2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3593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79043D-6E2F-44E1-9C9C-62CDA465F24A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8236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15088" y="0"/>
            <a:ext cx="12191695" cy="6858000"/>
          </a:xfrm>
          <a:prstGeom prst="rect">
            <a:avLst/>
          </a:prstGeom>
          <a:solidFill>
            <a:srgbClr val="14532D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 i="0" dirty="0" err="1">
                <a:solidFill>
                  <a:srgbClr val="F59E0B"/>
                </a:solidFill>
                <a:latin typeface="Noto Sans TC"/>
                <a:ea typeface="Noto Sans TC"/>
              </a:rPr>
              <a:t>土肉桂專區</a:t>
            </a:r>
            <a:endParaRPr sz="7200" b="1" i="0" dirty="0">
              <a:solidFill>
                <a:srgbClr val="F59E0B"/>
              </a:solidFill>
              <a:latin typeface="Noto Sans TC"/>
              <a:ea typeface="Noto Sans TC"/>
            </a:endParaRPr>
          </a:p>
          <a:p>
            <a:pPr algn="ctr"/>
            <a:r>
              <a:rPr sz="5400" b="1" i="0" dirty="0" err="1">
                <a:solidFill>
                  <a:srgbClr val="FFFFFF"/>
                </a:solidFill>
                <a:latin typeface="Noto Sans TC"/>
                <a:ea typeface="Noto Sans TC"/>
              </a:rPr>
              <a:t>葉片收穫監測會計系統</a:t>
            </a:r>
            <a:endParaRPr sz="5400" b="1" i="0" dirty="0">
              <a:solidFill>
                <a:srgbClr val="FFFFFF"/>
              </a:solidFill>
              <a:latin typeface="Noto Sans TC"/>
              <a:ea typeface="Noto Sans T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F5F5F4"/>
                </a:solidFill>
                <a:latin typeface="Noto Sans TC"/>
                <a:ea typeface="Noto Sans TC"/>
              </a:rPr>
              <a:t>系統說明會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4579" y="5543490"/>
            <a:ext cx="771236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 dirty="0">
                <a:solidFill>
                  <a:srgbClr val="D6D3D1"/>
                </a:solidFill>
                <a:latin typeface="Noto Sans TC"/>
                <a:ea typeface="Noto Sans TC"/>
              </a:rPr>
              <a:t>2026 年 6 月 6 日 │ </a:t>
            </a:r>
            <a:r>
              <a:rPr sz="2000" b="0" i="0" dirty="0" err="1">
                <a:solidFill>
                  <a:srgbClr val="D6D3D1"/>
                </a:solidFill>
                <a:latin typeface="Noto Sans TC"/>
                <a:ea typeface="Noto Sans TC"/>
              </a:rPr>
              <a:t>ForestMRV</a:t>
            </a:r>
            <a:r>
              <a:rPr sz="2000" b="0" i="0" dirty="0">
                <a:solidFill>
                  <a:srgbClr val="D6D3D1"/>
                </a:solidFill>
                <a:latin typeface="Noto Sans TC"/>
                <a:ea typeface="Noto Sans TC"/>
              </a:rPr>
              <a:t> v2.11.69 │</a:t>
            </a:r>
            <a:r>
              <a:rPr lang="zh-TW" altLang="en-US" sz="2000" b="0" i="0" dirty="0">
                <a:solidFill>
                  <a:srgbClr val="D6D3D1"/>
                </a:solidFill>
                <a:latin typeface="Noto Sans TC"/>
                <a:ea typeface="Noto Sans TC"/>
              </a:rPr>
              <a:t>詹于萱 講師級研究員</a:t>
            </a:r>
            <a:endParaRPr sz="2000" b="0" i="0" dirty="0">
              <a:solidFill>
                <a:srgbClr val="D6D3D1"/>
              </a:solidFill>
              <a:latin typeface="Noto Sans TC"/>
              <a:ea typeface="Noto Sans T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議程（30 分鐘）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0847" y="1768033"/>
            <a:ext cx="1143000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第 1 段（0-5 </a:t>
            </a: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分鐘</a:t>
            </a: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）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系統概觀與角色介紹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第 2 段（5-10 </a:t>
            </a: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分鐘</a:t>
            </a: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）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系統管理員開案與邊界準備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第 3 段（10-15 </a:t>
            </a: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分鐘</a:t>
            </a: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）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林農修枝申請（主秀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第 4 段（15-20 </a:t>
            </a: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分鐘</a:t>
            </a: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）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分署承辦審核與核准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第 5 段（20-25 </a:t>
            </a: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分鐘</a:t>
            </a: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）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林農回報葉片採收量與結案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第 6 段（25-30 </a:t>
            </a: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分鐘</a:t>
            </a: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）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合作社彙整與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系統定位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43000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ForestMRV 智慧森林監測平臺之子模組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依循 IPCC LULUCF 與 MRV（測量、報告、查證）原則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土肉桂專區採「行政管理導向」設計、非樣區調查專案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承接四階段行政流程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1. 林農申請修枝採取副產物（葉片）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2. 林業保育署臺中分署核准並核發法定許可文號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3. 林農回報實際葉片採收量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4. 結案後資料移交合作社進行共同銷售彙整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五個系統角色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43000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>
                <a:solidFill>
                  <a:srgbClr val="15803D"/>
                </a:solidFill>
                <a:latin typeface="Noto Sans TC"/>
                <a:ea typeface="Noto Sans TC"/>
              </a:rPr>
              <a:t>admin（系統管理員）</a:t>
            </a: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 計畫團隊 │ 開案、邊界、人員指派、QAQC 監督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>
                <a:solidFill>
                  <a:srgbClr val="15803D"/>
                </a:solidFill>
                <a:latin typeface="Noto Sans TC"/>
                <a:ea typeface="Noto Sans TC"/>
              </a:rPr>
              <a:t>pi（計畫主持人）</a:t>
            </a: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 計畫團隊／合作社主席（移交後）│ 方法學設定、邀請成員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>
                <a:solidFill>
                  <a:srgbClr val="15803D"/>
                </a:solidFill>
                <a:latin typeface="Noto Sans TC"/>
                <a:ea typeface="Noto Sans TC"/>
              </a:rPr>
              <a:t>surveyor（林農）</a:t>
            </a: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 契約承租林農 │ 修枝申請、葉片採收回報、結案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>
                <a:solidFill>
                  <a:srgbClr val="15803D"/>
                </a:solidFill>
                <a:latin typeface="Noto Sans TC"/>
                <a:ea typeface="Noto Sans TC"/>
              </a:rPr>
              <a:t>harvest_authority（審核人員）</a:t>
            </a: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 臺中分署承辦 │ 核准、要求補件、駁回、核發法定許可文號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>
                <a:solidFill>
                  <a:srgbClr val="15803D"/>
                </a:solidFill>
                <a:latin typeface="Noto Sans TC"/>
                <a:ea typeface="Noto Sans TC"/>
              </a:rPr>
              <a:t>coop（合作社）</a:t>
            </a: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 合作社主席 │ 唯讀彙整、共同銷售匯出 Excel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</a:p>
          <a:p>
            <a:pPr lvl="1" algn="l">
              <a:spcBef>
                <a:spcPts val="500"/>
              </a:spcBef>
              <a:spcAft>
                <a:spcPts val="500"/>
              </a:spcAft>
            </a:pPr>
            <a:r>
              <a:rPr sz="1900" b="0" i="1">
                <a:solidFill>
                  <a:srgbClr val="787169"/>
                </a:solidFill>
                <a:latin typeface="Noto Sans TC"/>
                <a:ea typeface="Noto Sans TC"/>
              </a:rPr>
              <a:t> 權限以 Firestore Security Rules 強制執行、介面層 UI gating 為輔助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系統入口與登入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76072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網址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https://forestry-rs-monitor.web.app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兩種登入方式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Google 登入（建議，免另記密碼）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Email/密碼登入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PWA 設計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無需安裝任何軟體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Chrome、Edge、Safari 皆可使用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手機可加到主畫面、體驗近 native app</a:t>
            </a:r>
          </a:p>
        </p:txBody>
      </p:sp>
      <p:pic>
        <p:nvPicPr>
          <p:cNvPr id="4" name="Picture 3" descr="S01-登入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649" y="1754143"/>
            <a:ext cx="6323574" cy="33497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73988" y="5577840"/>
            <a:ext cx="4114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300" b="0" i="1">
                <a:solidFill>
                  <a:srgbClr val="787169"/>
                </a:solidFill>
                <a:latin typeface="Noto Sans TC"/>
                <a:ea typeface="Noto Sans TC"/>
              </a:rPr>
              <a:t>ForestMRV 登入頁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32D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59E0B"/>
                </a:solidFill>
                <a:latin typeface="Noto Sans TC"/>
                <a:ea typeface="Noto Sans TC"/>
              </a:rPr>
              <a:t>第 1 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Noto Sans TC"/>
                <a:ea typeface="Noto Sans TC"/>
              </a:rPr>
              <a:t>系統概觀與角色介紹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700" b="0" i="0">
                <a:solidFill>
                  <a:srgbClr val="D6D3D1"/>
                </a:solidFill>
                <a:latin typeface="Noto Sans TC"/>
                <a:ea typeface="Noto Sans TC"/>
              </a:rPr>
              <a:t>0 - 5 分鐘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我的專案首頁</a:t>
            </a:r>
          </a:p>
        </p:txBody>
      </p:sp>
      <p:pic>
        <p:nvPicPr>
          <p:cNvPr id="3" name="Picture 2" descr="S02-我的專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186" y="1051560"/>
            <a:ext cx="4883693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89320"/>
            <a:ext cx="103327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400" b="0" i="1">
                <a:solidFill>
                  <a:srgbClr val="787169"/>
                </a:solidFill>
                <a:latin typeface="Noto Sans TC"/>
                <a:ea typeface="Noto Sans TC"/>
              </a:rPr>
              <a:t>登入後第一個畫面 — admin 可看到全部專案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專案首頁與七個分頁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76072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純行政專案：分頁已精簡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土肉桂專區不需要樣區、立木、QAQC 等模組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系統自動隱藏「樣區／設計／儀表板」三個分頁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七個業務分頁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🗺️ 地圖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🌿 修枝申請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📋 修枝審核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🌾 葉片採收回報及結案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📊 葉片採收彙整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📥 匯出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⚙️ 設定</a:t>
            </a:r>
          </a:p>
        </p:txBody>
      </p:sp>
      <p:pic>
        <p:nvPicPr>
          <p:cNvPr id="4" name="Picture 3" descr="S03-土肉桂專案首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486400" cy="40586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5412006"/>
            <a:ext cx="54864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300" b="0" i="1">
                <a:solidFill>
                  <a:srgbClr val="787169"/>
                </a:solidFill>
                <a:latin typeface="Noto Sans TC"/>
                <a:ea typeface="Noto Sans TC"/>
              </a:rPr>
              <a:t>土肉桂專案首頁（地圖分頁 + 七個業務分頁）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32D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59E0B"/>
                </a:solidFill>
                <a:latin typeface="Noto Sans TC"/>
                <a:ea typeface="Noto Sans TC"/>
              </a:rPr>
              <a:t>第 2 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Noto Sans TC"/>
                <a:ea typeface="Noto Sans TC"/>
              </a:rPr>
              <a:t>系統管理員開案與邊界準備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700" b="0" i="0">
                <a:solidFill>
                  <a:srgbClr val="D6D3D1"/>
                </a:solidFill>
                <a:latin typeface="Noto Sans TC"/>
                <a:ea typeface="Noto Sans TC"/>
              </a:rPr>
              <a:t>5 - 10 分鐘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新建土肉桂專案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5126" y="1217888"/>
            <a:ext cx="6806453" cy="51206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入口</a:t>
            </a:r>
            <a:endParaRPr sz="2700" b="1" i="0" dirty="0">
              <a:solidFill>
                <a:srgbClr val="15803D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我的專案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→ ＋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新專案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表單重點</a:t>
            </a:r>
            <a:endParaRPr sz="2700" b="1" i="0" dirty="0">
              <a:solidFill>
                <a:srgbClr val="15803D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專案名稱與編號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計畫類型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：「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行政管理」或「林產物採取監測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」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方法學模組：勾選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admin_harvest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📐 </a:t>
            </a: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專案邊界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點「📥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預設邊界」下拉、選土肉桂專區（橫流溪+烏石坑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一鍵載入合併邊界</a:t>
            </a:r>
            <a:endParaRPr sz="2700" b="1" i="0" dirty="0">
              <a:solidFill>
                <a:srgbClr val="15803D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115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個作業單元（橫流溪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45 +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烏石坑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70）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含完整契約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metadata（承租人、契約樹種、面積、契約書號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）</a:t>
            </a:r>
          </a:p>
        </p:txBody>
      </p:sp>
      <p:pic>
        <p:nvPicPr>
          <p:cNvPr id="4" name="Picture 3" descr="S15-開案表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5424" y="1280160"/>
            <a:ext cx="308859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5925312"/>
            <a:ext cx="50292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300" b="0" i="1">
                <a:solidFill>
                  <a:srgbClr val="787169"/>
                </a:solidFill>
                <a:latin typeface="Noto Sans TC"/>
                <a:ea typeface="Noto Sans TC"/>
              </a:rPr>
              <a:t>開案表單預設邊界區塊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 dirty="0" err="1">
                <a:solidFill>
                  <a:srgbClr val="787169"/>
                </a:solidFill>
                <a:latin typeface="Noto Sans TC"/>
                <a:ea typeface="Noto Sans TC"/>
              </a:rPr>
              <a:t>ForestMRV</a:t>
            </a:r>
            <a:r>
              <a:rPr sz="1100" b="0" i="0" dirty="0">
                <a:solidFill>
                  <a:srgbClr val="787169"/>
                </a:solidFill>
                <a:latin typeface="Noto Sans TC"/>
                <a:ea typeface="Noto Sans TC"/>
              </a:rPr>
              <a:t> v2.11.69 │ </a:t>
            </a:r>
            <a:r>
              <a:rPr sz="1100" b="0" i="0" dirty="0" err="1">
                <a:solidFill>
                  <a:srgbClr val="787169"/>
                </a:solidFill>
                <a:latin typeface="Noto Sans TC"/>
                <a:ea typeface="Noto Sans TC"/>
              </a:rPr>
              <a:t>土肉桂專區葉片收穫監測會計系統</a:t>
            </a:r>
            <a:endParaRPr sz="1100" b="0" i="0" dirty="0">
              <a:solidFill>
                <a:srgbClr val="787169"/>
              </a:solidFill>
              <a:latin typeface="Noto Sans TC"/>
              <a:ea typeface="Noto Sans T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地圖瀏覽：115 個作業單元</a:t>
            </a:r>
          </a:p>
        </p:txBody>
      </p:sp>
      <p:pic>
        <p:nvPicPr>
          <p:cNvPr id="3" name="Picture 2" descr="S17-地圖頁115作業單元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864" y="1143000"/>
            <a:ext cx="856396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89320"/>
            <a:ext cx="103327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400" b="0" i="1">
                <a:solidFill>
                  <a:srgbClr val="787169"/>
                </a:solidFill>
                <a:latin typeface="Noto Sans TC"/>
                <a:ea typeface="Noto Sans TC"/>
              </a:rPr>
              <a:t>點 label/polygon 跳出 7 欄結構化 metadata popup（作業單元/專區/承租人/契約樹種/面積/工作站/契約書）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32D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59E0B"/>
                </a:solidFill>
                <a:latin typeface="Noto Sans TC"/>
                <a:ea typeface="Noto Sans TC"/>
              </a:rPr>
              <a:t>第 3 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Noto Sans TC"/>
                <a:ea typeface="Noto Sans TC"/>
              </a:rPr>
              <a:t>林農修枝申請（主秀）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700" b="0" i="0">
                <a:solidFill>
                  <a:srgbClr val="D6D3D1"/>
                </a:solidFill>
                <a:latin typeface="Noto Sans TC"/>
                <a:ea typeface="Noto Sans TC"/>
              </a:rPr>
              <a:t>10 - 15 分鐘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修枝申請分頁概觀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76072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業務流程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林農提出申請 → 列印公文寄分署 → 等待核准 → 列印許可單 → 修枝採葉 → 回報採收量 → 結案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狀態徽章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草稿 / 已送出．待審 / 已核准 / 修枝作業中 / 已結案 / 已駁回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卡片資訊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申請人、林地、面積、株數、修枝期間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✓ 系統識別摘要（picker 帶入結構化資料）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操作按鈕：✏️ 編輯 / 💚 送出申請 / 🗑️ 刪除 / 📄 申請公文稿</a:t>
            </a:r>
          </a:p>
        </p:txBody>
      </p:sp>
      <p:pic>
        <p:nvPicPr>
          <p:cNvPr id="4" name="Picture 3" descr="S04-修枝申請清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390" y="1234440"/>
            <a:ext cx="5486400" cy="19882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3341571"/>
            <a:ext cx="54864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300" b="0" i="1">
                <a:solidFill>
                  <a:srgbClr val="787169"/>
                </a:solidFill>
                <a:latin typeface="Noto Sans TC"/>
                <a:ea typeface="Noto Sans TC"/>
              </a:rPr>
              <a:t>修枝申請清單（含三筆已結案範例）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新增修枝申請 — 表單設計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76072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表單欄位順序（v2.11.68 設計）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1. 作業位置 picker（三層連動）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2. 作業位置預覽（嵌入迷你地圖）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3. 申請人姓名（picker 自動帶承租人）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4. 聯絡方式（必填）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5. 林班 / 地號（picker 自動帶入）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6. 申請修枝面積（picker 自動帶入）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7. 土肉桂修枝株數（自動 × 1800 株/ha）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8. 修枝方式、起迄日（必填）、備註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設計理念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「先選作業位置 → 其他欄位自動帶入 → 補必填」</a:t>
            </a:r>
          </a:p>
        </p:txBody>
      </p:sp>
      <p:pic>
        <p:nvPicPr>
          <p:cNvPr id="4" name="Picture 3" descr="S05-新增申請-空白表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914" y="1234440"/>
            <a:ext cx="4066442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5925312"/>
            <a:ext cx="4114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300" b="0" i="1">
                <a:solidFill>
                  <a:srgbClr val="787169"/>
                </a:solidFill>
                <a:latin typeface="Noto Sans TC"/>
                <a:ea typeface="Noto Sans TC"/>
              </a:rPr>
              <a:t>新增申請表單（picker + 迷你地圖在最上）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三層 picker 連動 + 自動帶入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76072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Picker 三層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1. 專區（橫流溪 / 烏石坑）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2. 承租人（依專區自動篩選）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3. 作業單元（依承租人列出 + 契約面積/樹種摘要）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完成選擇後自動發生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申請人姓名 → 自動覆蓋為承租人姓名（v2.11.63）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林班 / 地號、面積、株數 → 自動帶入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迷你地圖 → 紅色高亮目標 + 自動 zoom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下方 7 欄系統識別摘要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仍可手動覆蓋任何欄位</a:t>
            </a:r>
          </a:p>
        </p:txBody>
      </p:sp>
      <p:pic>
        <p:nvPicPr>
          <p:cNvPr id="4" name="Picture 3" descr="S06-Picker三層連動完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057" y="1280160"/>
            <a:ext cx="2496844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5925312"/>
            <a:ext cx="4114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300" b="0" i="1">
                <a:solidFill>
                  <a:srgbClr val="787169"/>
                </a:solidFill>
                <a:latin typeface="Noto Sans TC"/>
                <a:ea typeface="Noto Sans TC"/>
              </a:rPr>
              <a:t>picker 完成、mini-map 紅色高亮、申請人姓名已帶入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表單下半部 — 自動計算與必填欄位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199" y="1234440"/>
            <a:ext cx="7656653" cy="51206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自動連動計算</a:t>
            </a:r>
            <a:endParaRPr sz="2700" b="1" i="0" dirty="0">
              <a:solidFill>
                <a:srgbClr val="15803D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修枝株數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面積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× 1800 株/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ha（合作社契約假設密度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面積變更時即時更新株數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可手動覆蓋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必填欄位（紅色</a:t>
            </a:r>
            <a:r>
              <a:rPr sz="2700" b="1" i="0" dirty="0">
                <a:solidFill>
                  <a:srgbClr val="15803D"/>
                </a:solidFill>
                <a:latin typeface="Noto Sans TC"/>
                <a:ea typeface="Noto Sans TC"/>
              </a:rPr>
              <a:t> *）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聯絡方式（電話／email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修枝起日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修枝迄日（須晚於起日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送出選項</a:t>
            </a:r>
            <a:endParaRPr sz="2700" b="1" i="0" dirty="0">
              <a:solidFill>
                <a:srgbClr val="15803D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💾 </a:t>
            </a: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儲存草稿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可日後繼續編輯，不配發文號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>
                <a:solidFill>
                  <a:srgbClr val="15803D"/>
                </a:solidFill>
                <a:latin typeface="Noto Sans TC"/>
                <a:ea typeface="Noto Sans TC"/>
              </a:rPr>
              <a:t>📤 </a:t>
            </a: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送出申請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即時配發發文字號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「（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修）字第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NNN 號」</a:t>
            </a:r>
          </a:p>
        </p:txBody>
      </p:sp>
      <p:pic>
        <p:nvPicPr>
          <p:cNvPr id="4" name="Picture 3" descr="S07-申請表單下半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847" y="1280160"/>
            <a:ext cx="246099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11942" y="6008071"/>
            <a:ext cx="4114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300" b="0" i="1" dirty="0" err="1">
                <a:solidFill>
                  <a:srgbClr val="787169"/>
                </a:solidFill>
                <a:latin typeface="Noto Sans TC"/>
                <a:ea typeface="Noto Sans TC"/>
              </a:rPr>
              <a:t>表單下半部欄位</a:t>
            </a:r>
            <a:endParaRPr sz="1300" b="0" i="1" dirty="0">
              <a:solidFill>
                <a:srgbClr val="787169"/>
              </a:solidFill>
              <a:latin typeface="Noto Sans TC"/>
              <a:ea typeface="Noto Sans T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申請公文稿（第 1 頁）— 公文體 4 點 + 表列</a:t>
            </a:r>
          </a:p>
        </p:txBody>
      </p:sp>
      <p:pic>
        <p:nvPicPr>
          <p:cNvPr id="3" name="Picture 2" descr="S08-申請公文稿-第1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27" y="1143000"/>
            <a:ext cx="3352441" cy="47548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5989320"/>
            <a:ext cx="103327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400" b="0" i="1">
                <a:solidFill>
                  <a:srgbClr val="787169"/>
                </a:solidFill>
                <a:latin typeface="Noto Sans TC"/>
                <a:ea typeface="Noto Sans TC"/>
              </a:rPr>
              <a:t>正式公文「函」格式：受文者 / 發文字號 / 公文體說明 4 點 / 表列 8 欄申請明細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申請公文稿（第 2 頁）— 作業位置 SVG 示意圖</a:t>
            </a:r>
          </a:p>
        </p:txBody>
      </p:sp>
      <p:pic>
        <p:nvPicPr>
          <p:cNvPr id="3" name="Picture 2" descr="S09-申請公文稿-第2頁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299" y="1143000"/>
            <a:ext cx="3335097" cy="47548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6012180"/>
            <a:ext cx="103327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400" b="0" i="1" dirty="0" err="1">
                <a:solidFill>
                  <a:srgbClr val="787169"/>
                </a:solidFill>
                <a:latin typeface="Noto Sans TC"/>
                <a:ea typeface="Noto Sans TC"/>
              </a:rPr>
              <a:t>自製</a:t>
            </a:r>
            <a:r>
              <a:rPr sz="1400" b="0" i="1" dirty="0">
                <a:solidFill>
                  <a:srgbClr val="787169"/>
                </a:solidFill>
                <a:latin typeface="Noto Sans TC"/>
                <a:ea typeface="Noto Sans TC"/>
              </a:rPr>
              <a:t> inline </a:t>
            </a:r>
            <a:r>
              <a:rPr sz="1400" b="0" i="1" dirty="0" err="1">
                <a:solidFill>
                  <a:srgbClr val="787169"/>
                </a:solidFill>
                <a:latin typeface="Noto Sans TC"/>
                <a:ea typeface="Noto Sans TC"/>
              </a:rPr>
              <a:t>SVG：紅目標</a:t>
            </a:r>
            <a:r>
              <a:rPr sz="1400" b="0" i="1" dirty="0">
                <a:solidFill>
                  <a:srgbClr val="787169"/>
                </a:solidFill>
                <a:latin typeface="Noto Sans TC"/>
                <a:ea typeface="Noto Sans TC"/>
              </a:rPr>
              <a:t> + 灰 context + N </a:t>
            </a:r>
            <a:r>
              <a:rPr sz="1400" b="0" i="1" dirty="0" err="1">
                <a:solidFill>
                  <a:srgbClr val="787169"/>
                </a:solidFill>
                <a:latin typeface="Noto Sans TC"/>
                <a:ea typeface="Noto Sans TC"/>
              </a:rPr>
              <a:t>北方箭頭</a:t>
            </a:r>
            <a:r>
              <a:rPr sz="1400" b="0" i="1" dirty="0">
                <a:solidFill>
                  <a:srgbClr val="787169"/>
                </a:solidFill>
                <a:latin typeface="Noto Sans TC"/>
                <a:ea typeface="Noto Sans TC"/>
              </a:rPr>
              <a:t> + meta 行 + </a:t>
            </a:r>
            <a:r>
              <a:rPr sz="1400" b="0" i="1" dirty="0" err="1">
                <a:solidFill>
                  <a:srgbClr val="787169"/>
                </a:solidFill>
                <a:latin typeface="Noto Sans TC"/>
                <a:ea typeface="Noto Sans TC"/>
              </a:rPr>
              <a:t>申請人簽章</a:t>
            </a:r>
            <a:r>
              <a:rPr sz="1400" b="0" i="1" dirty="0">
                <a:solidFill>
                  <a:srgbClr val="787169"/>
                </a:solidFill>
                <a:latin typeface="Noto Sans TC"/>
                <a:ea typeface="Noto Sans TC"/>
              </a:rPr>
              <a:t> + </a:t>
            </a:r>
            <a:r>
              <a:rPr sz="1400" b="0" i="1" dirty="0" err="1">
                <a:solidFill>
                  <a:srgbClr val="787169"/>
                </a:solidFill>
                <a:latin typeface="Noto Sans TC"/>
                <a:ea typeface="Noto Sans TC"/>
              </a:rPr>
              <a:t>分署收件欄</a:t>
            </a:r>
            <a:endParaRPr sz="1400" b="0" i="1" dirty="0">
              <a:solidFill>
                <a:srgbClr val="787169"/>
              </a:solidFill>
              <a:latin typeface="Noto Sans TC"/>
              <a:ea typeface="Noto Sans T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32D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59E0B"/>
                </a:solidFill>
                <a:latin typeface="Noto Sans TC"/>
                <a:ea typeface="Noto Sans TC"/>
              </a:rPr>
              <a:t>第 4 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Noto Sans TC"/>
                <a:ea typeface="Noto Sans TC"/>
              </a:rPr>
              <a:t>分署承辦審核與核准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700" b="0" i="0">
                <a:solidFill>
                  <a:srgbClr val="D6D3D1"/>
                </a:solidFill>
                <a:latin typeface="Noto Sans TC"/>
                <a:ea typeface="Noto Sans TC"/>
              </a:rPr>
              <a:t>15 - 20 分鐘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修枝審核分頁（分署承辦視角）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76072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權限聲明（副標）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「審核者僅能核准／要求補件／駁回，不可變更申請內容（權限由 Firestore 規則鎖定）」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分區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待審核（NN）：尚未審核之案件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已處理（NN）：已核准/駁回之歷史案件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三按鈕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✅ 核准（綠）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📋 要求補件（橙）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✕ 駁回（紅）</a:t>
            </a:r>
          </a:p>
        </p:txBody>
      </p:sp>
      <p:pic>
        <p:nvPicPr>
          <p:cNvPr id="4" name="Picture 3" descr="S10-修枝審核清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486400" cy="3445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8414816" y="4945643"/>
            <a:ext cx="1092607" cy="292388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300" b="0" i="1" dirty="0" err="1">
                <a:solidFill>
                  <a:srgbClr val="787169"/>
                </a:solidFill>
                <a:latin typeface="Noto Sans TC"/>
                <a:ea typeface="Noto Sans TC"/>
              </a:rPr>
              <a:t>修枝審核清單</a:t>
            </a:r>
            <a:endParaRPr sz="1300" b="0" i="1" dirty="0">
              <a:solidFill>
                <a:srgbClr val="787169"/>
              </a:solidFill>
              <a:latin typeface="Noto Sans TC"/>
              <a:ea typeface="Noto Sans T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核准 Modal（v2.11.69 拍板：不預估採收量）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76072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Modal 內容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申請人資訊摘要（read-only）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>
                <a:solidFill>
                  <a:srgbClr val="15803D"/>
                </a:solidFill>
                <a:latin typeface="Noto Sans TC"/>
                <a:ea typeface="Noto Sans TC"/>
              </a:rPr>
              <a:t>灰底宣告框</a:t>
            </a: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 「本案核准後即許可進行修枝作業；所採取葉片重量由林農於 ForestMRV 線上系統實際回報，不設預估上限」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效期起日 / 迄日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審核附註（選填）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>
                <a:solidFill>
                  <a:srgbClr val="15803D"/>
                </a:solidFill>
                <a:latin typeface="Noto Sans TC"/>
                <a:ea typeface="Noto Sans TC"/>
              </a:rPr>
              <a:t>為什麼不設「核准採收量」上限？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土肉桂每塊地年齡不同、每株產出葉量差異大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事先預估上限反而誤導承辦與林農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改採「事後實際回報」設計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合作社共同銷售依實際量結算</a:t>
            </a:r>
          </a:p>
        </p:txBody>
      </p:sp>
      <p:pic>
        <p:nvPicPr>
          <p:cNvPr id="4" name="Picture 3" descr="S11-核准Modal-v2.11.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7" y="2458160"/>
            <a:ext cx="5866767" cy="24903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7393907" y="5995076"/>
            <a:ext cx="41148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300" b="0" i="1" dirty="0" err="1">
                <a:solidFill>
                  <a:srgbClr val="787169"/>
                </a:solidFill>
                <a:latin typeface="Noto Sans TC"/>
                <a:ea typeface="Noto Sans TC"/>
              </a:rPr>
              <a:t>新版核准</a:t>
            </a:r>
            <a:r>
              <a:rPr sz="1300" b="0" i="1" dirty="0">
                <a:solidFill>
                  <a:srgbClr val="787169"/>
                </a:solidFill>
                <a:latin typeface="Noto Sans TC"/>
                <a:ea typeface="Noto Sans TC"/>
              </a:rPr>
              <a:t> Modal（v2.11.69）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法定許可文號自動配發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4519"/>
            <a:ext cx="2377440" cy="15544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0" i="0">
                <a:solidFill>
                  <a:srgbClr val="F5F5F4"/>
                </a:solidFill>
                <a:latin typeface="Noto Sans TC"/>
                <a:ea typeface="Noto Sans TC"/>
              </a:rPr>
              <a:t>Firestore</a:t>
            </a:r>
          </a:p>
          <a:p>
            <a:pPr algn="ctr"/>
            <a:r>
              <a:rPr sz="1800" b="1" i="0">
                <a:solidFill>
                  <a:srgbClr val="FFFFFF"/>
                </a:solidFill>
                <a:latin typeface="Noto Sans TC"/>
                <a:ea typeface="Noto Sans TC"/>
              </a:rPr>
              <a:t>runTransaction</a:t>
            </a:r>
          </a:p>
          <a:p>
            <a:pPr algn="ctr"/>
            <a:r>
              <a:rPr sz="1600" b="0" i="0">
                <a:solidFill>
                  <a:srgbClr val="F5F5F4"/>
                </a:solidFill>
                <a:latin typeface="Noto Sans TC"/>
                <a:ea typeface="Noto Sans TC"/>
              </a:rPr>
              <a:t>原子遞增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80360" y="2331720"/>
            <a:ext cx="548640" cy="64008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29000" y="1874519"/>
            <a:ext cx="2377440" cy="15544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Noto Sans TC"/>
                <a:ea typeface="Noto Sans TC"/>
              </a:rPr>
              <a:t>連號文號配發</a:t>
            </a:r>
          </a:p>
          <a:p>
            <a:pPr algn="ctr"/>
            <a:r>
              <a:rPr sz="1300" b="0" i="0">
                <a:solidFill>
                  <a:srgbClr val="F5F5F4"/>
                </a:solidFill>
                <a:latin typeface="Noto Sans TC"/>
                <a:ea typeface="Noto Sans TC"/>
              </a:rPr>
              <a:t>林保中-土肉桂修枝</a:t>
            </a:r>
          </a:p>
          <a:p>
            <a:pPr algn="ctr"/>
            <a:r>
              <a:rPr sz="1500" b="1" i="0">
                <a:solidFill>
                  <a:srgbClr val="F59E0B"/>
                </a:solidFill>
                <a:latin typeface="Noto Sans TC"/>
                <a:ea typeface="Noto Sans TC"/>
              </a:rPr>
              <a:t>-115-001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06440" y="2331720"/>
            <a:ext cx="548640" cy="64008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55080" y="1874519"/>
            <a:ext cx="2377440" cy="15544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Noto Sans TC"/>
                <a:ea typeface="Noto Sans TC"/>
              </a:rPr>
              <a:t>申請狀態推進</a:t>
            </a:r>
          </a:p>
          <a:p>
            <a:pPr algn="ctr"/>
            <a:r>
              <a:rPr sz="1400" b="0" i="0">
                <a:solidFill>
                  <a:srgbClr val="F5F5F4"/>
                </a:solidFill>
                <a:latin typeface="Noto Sans TC"/>
                <a:ea typeface="Noto Sans TC"/>
              </a:rPr>
              <a:t>submitted</a:t>
            </a:r>
          </a:p>
          <a:p>
            <a:pPr algn="ctr"/>
            <a:r>
              <a:rPr sz="1500" b="1" i="0">
                <a:solidFill>
                  <a:srgbClr val="F59E0B"/>
                </a:solidFill>
                <a:latin typeface="Noto Sans TC"/>
                <a:ea typeface="Noto Sans TC"/>
              </a:rPr>
              <a:t>→ approved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32520" y="2331720"/>
            <a:ext cx="548640" cy="64008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281160" y="1874519"/>
            <a:ext cx="2377440" cy="155448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Noto Sans TC"/>
                <a:ea typeface="Noto Sans TC"/>
              </a:rPr>
              <a:t>林農端即時可見</a:t>
            </a:r>
          </a:p>
          <a:p>
            <a:pPr algn="ctr"/>
            <a:r>
              <a:rPr sz="1300" b="0" i="0">
                <a:solidFill>
                  <a:srgbClr val="F5F5F4"/>
                </a:solidFill>
                <a:latin typeface="Noto Sans TC"/>
                <a:ea typeface="Noto Sans TC"/>
              </a:rPr>
              <a:t>卡片轉綠『已核准』</a:t>
            </a:r>
          </a:p>
          <a:p>
            <a:pPr algn="ctr"/>
            <a:r>
              <a:rPr sz="1300" b="0" i="0">
                <a:solidFill>
                  <a:srgbClr val="F5F5F4"/>
                </a:solidFill>
                <a:latin typeface="Noto Sans TC"/>
                <a:ea typeface="Noto Sans TC"/>
              </a:rPr>
              <a:t>出現採取許可單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1064240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500" b="1" i="0">
                <a:solidFill>
                  <a:srgbClr val="15803D"/>
                </a:solidFill>
                <a:latin typeface="Noto Sans TC"/>
                <a:ea typeface="Noto Sans TC"/>
              </a:rPr>
              <a:t>為什麼用 Transaction？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確保連號、不可重號、不可並寫 — 多承辦同時核准也安全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文號格式：林保中-土肉桂修枝-{民國年}-{流水號}（例 115-001）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核准同步寫入效期與審核附註，並以 Toast 通知承辦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採取許可單 — 列印版（含 v2.11.69 宣告）</a:t>
            </a:r>
          </a:p>
        </p:txBody>
      </p:sp>
      <p:pic>
        <p:nvPicPr>
          <p:cNvPr id="3" name="Picture 2" descr="S12-採取許可單-列印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720" y="1143000"/>
            <a:ext cx="3372255" cy="47548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5989320"/>
            <a:ext cx="103327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400" b="0" i="1">
                <a:solidFill>
                  <a:srgbClr val="787169"/>
                </a:solidFill>
                <a:latin typeface="Noto Sans TC"/>
                <a:ea typeface="Noto Sans TC"/>
              </a:rPr>
              <a:t>採取許可單公文 box + 一句宣告（dashed border-top）「本許可只許可修枝作業；所採取葉片重量以實際回報為準、不設預估上限」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32D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59E0B"/>
                </a:solidFill>
                <a:latin typeface="Noto Sans TC"/>
                <a:ea typeface="Noto Sans TC"/>
              </a:rPr>
              <a:t>第 5 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Noto Sans TC"/>
                <a:ea typeface="Noto Sans TC"/>
              </a:rPr>
              <a:t>林農回報與結案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700" b="0" i="0">
                <a:solidFill>
                  <a:srgbClr val="D6D3D1"/>
                </a:solidFill>
                <a:latin typeface="Noto Sans TC"/>
                <a:ea typeface="Noto Sans TC"/>
              </a:rPr>
              <a:t>20 - 25 分鐘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葉片採收回報及結案分頁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3360" y="1143000"/>
            <a:ext cx="6129567" cy="512064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業務說明</a:t>
            </a:r>
            <a:endParaRPr sz="2700" b="1" i="0" dirty="0">
              <a:solidFill>
                <a:srgbClr val="15803D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核准效期內進行修枝作業並採收葉片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回報為法定義務，未回報不可結案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 dirty="0">
                <a:solidFill>
                  <a:srgbClr val="15803D"/>
                </a:solidFill>
                <a:latin typeface="Noto Sans TC"/>
                <a:ea typeface="Noto Sans TC"/>
              </a:rPr>
              <a:t>回報設計（v2.11.69 </a:t>
            </a:r>
            <a:r>
              <a:rPr sz="27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簡化</a:t>
            </a:r>
            <a:r>
              <a:rPr sz="2700" b="1" i="0" dirty="0">
                <a:solidFill>
                  <a:srgbClr val="15803D"/>
                </a:solidFill>
                <a:latin typeface="Noto Sans TC"/>
                <a:ea typeface="Noto Sans TC"/>
              </a:rPr>
              <a:t>）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無對照、無達成率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純累計顯示，不比對核准量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4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可分批多次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如 5/30 採 10 kg、6/15 採 8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kg、累計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18 kg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回報欄位</a:t>
            </a:r>
            <a:endParaRPr sz="2700" b="1" i="0" dirty="0">
              <a:solidFill>
                <a:srgbClr val="15803D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採收日期、實際鮮葉重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(kg) —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必填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乾燥後重、含水率、批次標示、備註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—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選填</a:t>
            </a:r>
            <a:endParaRPr sz="2000" b="0" i="0" dirty="0">
              <a:solidFill>
                <a:srgbClr val="44403B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700" b="1" i="0" dirty="0" err="1">
                <a:solidFill>
                  <a:srgbClr val="15803D"/>
                </a:solidFill>
                <a:latin typeface="Noto Sans TC"/>
                <a:ea typeface="Noto Sans TC"/>
              </a:rPr>
              <a:t>自動推進狀態</a:t>
            </a:r>
            <a:endParaRPr sz="2700" b="1" i="0" dirty="0">
              <a:solidFill>
                <a:srgbClr val="15803D"/>
              </a:solidFill>
              <a:latin typeface="Noto Sans TC"/>
              <a:ea typeface="Noto Sans TC"/>
            </a:endParaRP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•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首筆回報時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 approved → </a:t>
            </a:r>
            <a:r>
              <a:rPr sz="2000" b="0" i="0" dirty="0" err="1">
                <a:solidFill>
                  <a:srgbClr val="44403B"/>
                </a:solidFill>
                <a:latin typeface="Noto Sans TC"/>
                <a:ea typeface="Noto Sans TC"/>
              </a:rPr>
              <a:t>harvesting（修枝作業中</a:t>
            </a:r>
            <a:r>
              <a:rPr sz="2000" b="0" i="0" dirty="0">
                <a:solidFill>
                  <a:srgbClr val="44403B"/>
                </a:solidFill>
                <a:latin typeface="Noto Sans TC"/>
                <a:ea typeface="Noto Sans TC"/>
              </a:rPr>
              <a:t>）</a:t>
            </a:r>
          </a:p>
        </p:txBody>
      </p:sp>
      <p:pic>
        <p:nvPicPr>
          <p:cNvPr id="4" name="Picture 3" descr="S14-葉片採收回報及結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486400" cy="32531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4606452"/>
            <a:ext cx="54864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300" b="0" i="1">
                <a:solidFill>
                  <a:srgbClr val="787169"/>
                </a:solidFill>
                <a:latin typeface="Noto Sans TC"/>
                <a:ea typeface="Noto Sans TC"/>
              </a:rPr>
              <a:t>採收回報及結案分頁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回報完畢並結案 — 結案閘門（v2.11.39）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331720"/>
            <a:ext cx="2468880" cy="1371600"/>
          </a:xfrm>
          <a:prstGeom prst="roundRect">
            <a:avLst/>
          </a:prstGeom>
          <a:solidFill>
            <a:srgbClr val="444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Noto Sans TC"/>
                <a:ea typeface="Noto Sans TC"/>
              </a:rPr>
              <a:t>累計回報量</a:t>
            </a:r>
          </a:p>
          <a:p>
            <a:pPr algn="ctr"/>
            <a:r>
              <a:rPr sz="1400" b="0" i="0">
                <a:solidFill>
                  <a:srgbClr val="F5F5F4"/>
                </a:solidFill>
                <a:latin typeface="Noto Sans TC"/>
                <a:ea typeface="Noto Sans TC"/>
              </a:rPr>
              <a:t>totalLogged_kg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17520" y="2788920"/>
            <a:ext cx="502920" cy="50292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Diamond 5"/>
          <p:cNvSpPr/>
          <p:nvPr/>
        </p:nvSpPr>
        <p:spPr>
          <a:xfrm>
            <a:off x="3611880" y="2011680"/>
            <a:ext cx="2743200" cy="2011680"/>
          </a:xfrm>
          <a:prstGeom prst="diamond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Noto Sans TC"/>
                <a:ea typeface="Noto Sans TC"/>
              </a:rPr>
              <a:t>回報量 &gt; 0 ？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446520" y="2148840"/>
            <a:ext cx="548640" cy="50292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040880" y="1554480"/>
            <a:ext cx="4480560" cy="123444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Noto Sans TC"/>
                <a:ea typeface="Noto Sans TC"/>
              </a:rPr>
              <a:t>✓ 是 → 可結案</a:t>
            </a:r>
          </a:p>
          <a:p>
            <a:pPr algn="ctr"/>
            <a:r>
              <a:rPr sz="1400" b="0" i="0">
                <a:solidFill>
                  <a:srgbClr val="F5F5F4"/>
                </a:solidFill>
                <a:latin typeface="Noto Sans TC"/>
                <a:ea typeface="Noto Sans TC"/>
              </a:rPr>
              <a:t>狀態 harvesting → completed（已結案）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46520" y="3383280"/>
            <a:ext cx="548640" cy="50292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040880" y="3246120"/>
            <a:ext cx="4480560" cy="123444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Noto Sans TC"/>
                <a:ea typeface="Noto Sans TC"/>
              </a:rPr>
              <a:t>✗ 否 → 擋下</a:t>
            </a:r>
          </a:p>
          <a:p>
            <a:pPr algn="ctr"/>
            <a:r>
              <a:rPr sz="1400" b="0" i="0">
                <a:solidFill>
                  <a:srgbClr val="F5F5F4"/>
                </a:solidFill>
                <a:latin typeface="Noto Sans TC"/>
                <a:ea typeface="Noto Sans TC"/>
              </a:rPr>
              <a:t>提示先回報採收量，不可結案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11064240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400" b="1" i="0">
                <a:solidFill>
                  <a:srgbClr val="15803D"/>
                </a:solidFill>
                <a:latin typeface="Noto Sans TC"/>
                <a:ea typeface="Noto Sans TC"/>
              </a:rPr>
              <a:t>雙重把關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900" b="0" i="0">
                <a:solidFill>
                  <a:srgbClr val="44403B"/>
                </a:solidFill>
                <a:latin typeface="Noto Sans TC"/>
                <a:ea typeface="Noto Sans TC"/>
              </a:rPr>
              <a:t>• 法定義務：未回報（totalLogged_kg = 0）不可結案 — Firestore Rules + 客戶端同步擋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900" b="0" i="0">
                <a:solidFill>
                  <a:srgbClr val="44403B"/>
                </a:solidFill>
                <a:latin typeface="Noto Sans TC"/>
                <a:ea typeface="Noto Sans TC"/>
              </a:rPr>
              <a:t>• 結案後不可再回報、不可再編輯；資料固定供分署查核與合作社彙整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32D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59E0B"/>
                </a:solidFill>
                <a:latin typeface="Noto Sans TC"/>
                <a:ea typeface="Noto Sans TC"/>
              </a:rPr>
              <a:t>第 6 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Noto Sans TC"/>
                <a:ea typeface="Noto Sans TC"/>
              </a:rPr>
              <a:t>合作社彙整與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700" b="0" i="0">
                <a:solidFill>
                  <a:srgbClr val="D6D3D1"/>
                </a:solidFill>
                <a:latin typeface="Noto Sans TC"/>
                <a:ea typeface="Noto Sans TC"/>
              </a:rPr>
              <a:t>25 - 30 分鐘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葉片採收彙整（合作社視角）</a:t>
            </a:r>
          </a:p>
        </p:txBody>
      </p:sp>
      <p:pic>
        <p:nvPicPr>
          <p:cNvPr id="3" name="Picture 2" descr="S13-葉片採收彙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017" y="1143000"/>
            <a:ext cx="6921660" cy="47548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6059057"/>
            <a:ext cx="103327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400" b="0" i="1">
                <a:solidFill>
                  <a:srgbClr val="787169"/>
                </a:solidFill>
                <a:latin typeface="Noto Sans TC"/>
                <a:ea typeface="Noto Sans TC"/>
              </a:rPr>
              <a:t>三區塊：📋 專區總覽 + 🤝 依林農三欄表（無達成率欄）+ 📋 各申請案唯讀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共同銷售規劃（合作社彙整三區塊）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120640" cy="1325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Noto Sans TC"/>
                <a:ea typeface="Noto Sans TC"/>
              </a:rPr>
              <a:t>區塊一：專區總覽</a:t>
            </a:r>
          </a:p>
          <a:p>
            <a:pPr algn="ctr"/>
            <a:r>
              <a:rPr sz="1300" b="0" i="0">
                <a:solidFill>
                  <a:srgbClr val="F5F5F4"/>
                </a:solidFill>
                <a:latin typeface="Noto Sans TC"/>
                <a:ea typeface="Noto Sans TC"/>
              </a:rPr>
              <a:t>申請案總數 · 狀態分布 · 已回報採收量總計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34640"/>
            <a:ext cx="5120640" cy="1325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Noto Sans TC"/>
                <a:ea typeface="Noto Sans TC"/>
              </a:rPr>
              <a:t>區塊二：依林農彙整</a:t>
            </a:r>
          </a:p>
          <a:p>
            <a:pPr algn="ctr"/>
            <a:r>
              <a:rPr sz="1300" b="0" i="0">
                <a:solidFill>
                  <a:srgbClr val="F5F5F4"/>
                </a:solidFill>
                <a:latin typeface="Noto Sans TC"/>
                <a:ea typeface="Noto Sans TC"/>
              </a:rPr>
              <a:t>三欄 林農／案件數／已回報量(kg)，降序，無達成率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97680"/>
            <a:ext cx="5120640" cy="13258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Noto Sans TC"/>
                <a:ea typeface="Noto Sans TC"/>
              </a:rPr>
              <a:t>區塊三：各申請案（唯讀）</a:t>
            </a:r>
          </a:p>
          <a:p>
            <a:pPr algn="ctr"/>
            <a:r>
              <a:rPr sz="1300" b="0" i="0">
                <a:solidFill>
                  <a:srgbClr val="F5F5F4"/>
                </a:solidFill>
                <a:latin typeface="Noto Sans TC"/>
                <a:ea typeface="Noto Sans TC"/>
              </a:rPr>
              <a:t>可預覽每筆採取許可單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06440" y="3063240"/>
            <a:ext cx="868680" cy="82296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58000" y="2103120"/>
            <a:ext cx="4754880" cy="237744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Noto Sans TC"/>
                <a:ea typeface="Noto Sans TC"/>
              </a:rPr>
              <a:t>📥 匯出 Excel</a:t>
            </a:r>
          </a:p>
          <a:p>
            <a:pPr algn="ctr"/>
            <a:endParaRPr sz="2400" b="1" i="0">
              <a:solidFill>
                <a:srgbClr val="FFFFFF"/>
              </a:solidFill>
              <a:latin typeface="Noto Sans TC"/>
              <a:ea typeface="Noto Sans TC"/>
            </a:endParaRPr>
          </a:p>
          <a:p>
            <a:pPr algn="ctr"/>
            <a:r>
              <a:rPr sz="1600" b="0" i="0">
                <a:solidFill>
                  <a:srgbClr val="F5F5F4"/>
                </a:solidFill>
                <a:latin typeface="Noto Sans TC"/>
                <a:ea typeface="Noto Sans TC"/>
              </a:rPr>
              <a:t>供共同銷售前資料整理</a:t>
            </a:r>
          </a:p>
          <a:p>
            <a:pPr algn="ctr"/>
            <a:r>
              <a:rPr sz="1600" b="0" i="0">
                <a:solidFill>
                  <a:srgbClr val="F5F5F4"/>
                </a:solidFill>
                <a:latin typeface="Noto Sans TC"/>
                <a:ea typeface="Noto Sans TC"/>
              </a:rPr>
              <a:t>通路議價 · 結算分潤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709160"/>
            <a:ext cx="4754880" cy="1280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700" b="0" i="0">
                <a:solidFill>
                  <a:srgbClr val="44403B"/>
                </a:solidFill>
                <a:latin typeface="Noto Sans TC"/>
                <a:ea typeface="Noto Sans TC"/>
              </a:rPr>
              <a:t>• v2.11.41 拍板：純累計顯示、不設達成率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37160" rtlCol="0" anchor="ctr"/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TC"/>
                <a:ea typeface="Noto Sans TC"/>
              </a:rPr>
              <a:t>結語：五個角色的協作鏈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92240"/>
            <a:ext cx="1188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 b="0" i="0">
                <a:solidFill>
                  <a:srgbClr val="787169"/>
                </a:solidFill>
                <a:latin typeface="Noto Sans TC"/>
                <a:ea typeface="Noto Sans TC"/>
              </a:rPr>
              <a:t>ForestMRV v2.11.69 │ 土肉桂專區葉片收穫監測會計系統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508760"/>
            <a:ext cx="2057400" cy="20116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 i="0">
                <a:solidFill>
                  <a:srgbClr val="F59E0B"/>
                </a:solidFill>
                <a:latin typeface="Noto Sans TC"/>
                <a:ea typeface="Noto Sans TC"/>
              </a:rPr>
              <a:t>1. admin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Noto Sans TC"/>
                <a:ea typeface="Noto Sans TC"/>
              </a:rPr>
              <a:t>系統管理員</a:t>
            </a:r>
          </a:p>
          <a:p>
            <a:pPr algn="ctr"/>
            <a:r>
              <a:rPr sz="1200" b="0" i="0">
                <a:solidFill>
                  <a:srgbClr val="F5F5F4"/>
                </a:solidFill>
                <a:latin typeface="Noto Sans TC"/>
                <a:ea typeface="Noto Sans TC"/>
              </a:rPr>
              <a:t>開案 · 邊界</a:t>
            </a:r>
          </a:p>
          <a:p>
            <a:pPr algn="ctr"/>
            <a:r>
              <a:rPr sz="1200" b="0" i="0">
                <a:solidFill>
                  <a:srgbClr val="F5F5F4"/>
                </a:solidFill>
                <a:latin typeface="Noto Sans TC"/>
                <a:ea typeface="Noto Sans TC"/>
              </a:rPr>
              <a:t>邀請成員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77440" y="2194560"/>
            <a:ext cx="320040" cy="64008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97480" y="1508760"/>
            <a:ext cx="2057400" cy="20116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 i="0">
                <a:solidFill>
                  <a:srgbClr val="F59E0B"/>
                </a:solidFill>
                <a:latin typeface="Noto Sans TC"/>
                <a:ea typeface="Noto Sans TC"/>
              </a:rPr>
              <a:t>2. surveyor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Noto Sans TC"/>
                <a:ea typeface="Noto Sans TC"/>
              </a:rPr>
              <a:t>林農</a:t>
            </a:r>
          </a:p>
          <a:p>
            <a:pPr algn="ctr"/>
            <a:r>
              <a:rPr sz="1200" b="0" i="0">
                <a:solidFill>
                  <a:srgbClr val="F5F5F4"/>
                </a:solidFill>
                <a:latin typeface="Noto Sans TC"/>
                <a:ea typeface="Noto Sans TC"/>
              </a:rPr>
              <a:t>修枝申請</a:t>
            </a:r>
          </a:p>
          <a:p>
            <a:pPr algn="ctr"/>
            <a:r>
              <a:rPr sz="1200" b="0" i="0">
                <a:solidFill>
                  <a:srgbClr val="F5F5F4"/>
                </a:solidFill>
                <a:latin typeface="Noto Sans TC"/>
                <a:ea typeface="Noto Sans TC"/>
              </a:rPr>
              <a:t>+ 紙本公文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880" y="2194560"/>
            <a:ext cx="320040" cy="64008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74920" y="1508760"/>
            <a:ext cx="2057400" cy="2011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 i="0">
                <a:solidFill>
                  <a:srgbClr val="F59E0B"/>
                </a:solidFill>
                <a:latin typeface="Noto Sans TC"/>
                <a:ea typeface="Noto Sans TC"/>
              </a:rPr>
              <a:t>3. harvest_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</a:rPr>
              <a:t>authority｜分署</a:t>
            </a:r>
          </a:p>
          <a:p>
            <a:pPr algn="ctr"/>
            <a:r>
              <a:rPr sz="1200" b="0" i="0">
                <a:solidFill>
                  <a:srgbClr val="F5F5F4"/>
                </a:solidFill>
                <a:latin typeface="Noto Sans TC"/>
                <a:ea typeface="Noto Sans TC"/>
              </a:rPr>
              <a:t>審核 · 核准</a:t>
            </a:r>
          </a:p>
          <a:p>
            <a:pPr algn="ctr"/>
            <a:r>
              <a:rPr sz="1200" b="0" i="0">
                <a:solidFill>
                  <a:srgbClr val="F5F5F4"/>
                </a:solidFill>
                <a:latin typeface="Noto Sans TC"/>
                <a:ea typeface="Noto Sans TC"/>
              </a:rPr>
              <a:t>配發法定文號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32320" y="2194560"/>
            <a:ext cx="320040" cy="64008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52360" y="1508760"/>
            <a:ext cx="2057400" cy="20116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 i="0">
                <a:solidFill>
                  <a:srgbClr val="F59E0B"/>
                </a:solidFill>
                <a:latin typeface="Noto Sans TC"/>
                <a:ea typeface="Noto Sans TC"/>
              </a:rPr>
              <a:t>4. surveyor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Noto Sans TC"/>
                <a:ea typeface="Noto Sans TC"/>
              </a:rPr>
              <a:t>林農</a:t>
            </a:r>
          </a:p>
          <a:p>
            <a:pPr algn="ctr"/>
            <a:r>
              <a:rPr sz="1200" b="0" i="0">
                <a:solidFill>
                  <a:srgbClr val="F5F5F4"/>
                </a:solidFill>
                <a:latin typeface="Noto Sans TC"/>
                <a:ea typeface="Noto Sans TC"/>
              </a:rPr>
              <a:t>修枝採葉</a:t>
            </a:r>
          </a:p>
          <a:p>
            <a:pPr algn="ctr"/>
            <a:r>
              <a:rPr sz="1200" b="0" i="0">
                <a:solidFill>
                  <a:srgbClr val="F5F5F4"/>
                </a:solidFill>
                <a:latin typeface="Noto Sans TC"/>
                <a:ea typeface="Noto Sans TC"/>
              </a:rPr>
              <a:t>回報 · 結案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509760" y="2194560"/>
            <a:ext cx="320040" cy="64008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829800" y="1508760"/>
            <a:ext cx="2057400" cy="2011680"/>
          </a:xfrm>
          <a:prstGeom prst="roundRect">
            <a:avLst/>
          </a:prstGeom>
          <a:solidFill>
            <a:srgbClr val="444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 i="0">
                <a:solidFill>
                  <a:srgbClr val="F59E0B"/>
                </a:solidFill>
                <a:latin typeface="Noto Sans TC"/>
                <a:ea typeface="Noto Sans TC"/>
              </a:rPr>
              <a:t>5. coop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Noto Sans TC"/>
                <a:ea typeface="Noto Sans TC"/>
              </a:rPr>
              <a:t>合作社</a:t>
            </a:r>
          </a:p>
          <a:p>
            <a:pPr algn="ctr"/>
            <a:r>
              <a:rPr sz="1200" b="0" i="0">
                <a:solidFill>
                  <a:srgbClr val="F5F5F4"/>
                </a:solidFill>
                <a:latin typeface="Noto Sans TC"/>
                <a:ea typeface="Noto Sans TC"/>
              </a:rPr>
              <a:t>唯讀彙整</a:t>
            </a:r>
          </a:p>
          <a:p>
            <a:pPr algn="ctr"/>
            <a:r>
              <a:rPr sz="1200" b="0" i="0">
                <a:solidFill>
                  <a:srgbClr val="F5F5F4"/>
                </a:solidFill>
                <a:latin typeface="Noto Sans TC"/>
                <a:ea typeface="Noto Sans TC"/>
              </a:rPr>
              <a:t>匯出 Excel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60520"/>
            <a:ext cx="1106424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500" b="1" i="0">
                <a:solidFill>
                  <a:srgbClr val="15803D"/>
                </a:solidFill>
                <a:latin typeface="Noto Sans TC"/>
                <a:ea typeface="Noto Sans TC"/>
              </a:rPr>
              <a:t>v2.11.69 業務拍板回顧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許可只許可修枝作業，不預估／不限制採收量上限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採收量以實際回報為準、不對照、無達成率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2000" b="0" i="0">
                <a:solidFill>
                  <a:srgbClr val="44403B"/>
                </a:solidFill>
                <a:latin typeface="Noto Sans TC"/>
                <a:ea typeface="Noto Sans TC"/>
              </a:rPr>
              <a:t>• 「事後實際彙整」設計符合土肉桂業務本質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32D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0" b="1" i="0">
                <a:solidFill>
                  <a:srgbClr val="F59E0B"/>
                </a:solidFill>
                <a:latin typeface="Noto Sans TC"/>
                <a:ea typeface="Noto Sans TC"/>
              </a:rPr>
              <a:t>Q &amp; A</a:t>
            </a:r>
          </a:p>
          <a:p>
            <a:pPr algn="ctr">
              <a:spcBef>
                <a:spcPts val="2000"/>
              </a:spcBef>
            </a:pPr>
            <a:r>
              <a:rPr sz="4000" b="0" i="0">
                <a:solidFill>
                  <a:srgbClr val="FFFFFF"/>
                </a:solidFill>
                <a:latin typeface="Noto Sans TC"/>
                <a:ea typeface="Noto Sans TC"/>
              </a:rPr>
              <a:t>歡迎提問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0">
                <a:solidFill>
                  <a:srgbClr val="D6D3D1"/>
                </a:solidFill>
                <a:latin typeface="Noto Sans TC"/>
                <a:ea typeface="Noto Sans TC"/>
              </a:rPr>
              <a:t>土肉桂專區葉片收穫監測會計系統 │ ForestMRV v2.11.69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1321</Words>
  <Application>Microsoft Office PowerPoint</Application>
  <PresentationFormat>寬螢幕</PresentationFormat>
  <Paragraphs>272</Paragraphs>
  <Slides>31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31</vt:i4>
      </vt:variant>
    </vt:vector>
  </HeadingPairs>
  <TitlesOfParts>
    <vt:vector size="36" baseType="lpstr">
      <vt:lpstr>Noto Sans TC</vt:lpstr>
      <vt:lpstr>Aptos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CHAURTZUHN CHEN</cp:lastModifiedBy>
  <cp:revision>2</cp:revision>
  <dcterms:created xsi:type="dcterms:W3CDTF">2013-01-27T09:14:16Z</dcterms:created>
  <dcterms:modified xsi:type="dcterms:W3CDTF">2026-05-30T13:48:25Z</dcterms:modified>
  <cp:category/>
</cp:coreProperties>
</file>