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471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 i="0">
                <a:solidFill>
                  <a:srgbClr val="F59E0B"/>
                </a:solidFill>
                <a:latin typeface="PMingLiU"/>
                <a:ea typeface="PMingLiU"/>
              </a:rPr>
              <a:t>土肉桂專區</a:t>
            </a:r>
          </a:p>
          <a:p>
            <a:pPr algn="ctr"/>
            <a:r>
              <a:rPr sz="4400" b="1" i="0">
                <a:solidFill>
                  <a:srgbClr val="FFFFFF"/>
                </a:solidFill>
                <a:latin typeface="PMingLiU"/>
                <a:ea typeface="PMingLiU"/>
              </a:rPr>
              <a:t>葉片收穫監測會計系統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 i="0">
                <a:solidFill>
                  <a:srgbClr val="F5F5F4"/>
                </a:solidFill>
                <a:latin typeface="PMingLiU"/>
                <a:ea typeface="PMingLiU"/>
              </a:rPr>
              <a:t>系統說明會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 i="0">
                <a:solidFill>
                  <a:srgbClr val="D6D3D1"/>
                </a:solidFill>
                <a:latin typeface="PMingLiU"/>
                <a:ea typeface="PMingLiU"/>
              </a:rPr>
              <a:t>2026 年 6 月 6 日 │ ForestMRV v2.11.69 │ 陳朝圳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l"/>
            <a:r>
              <a:rPr sz="2800" b="1" i="0">
                <a:solidFill>
                  <a:srgbClr val="FFFFFF"/>
                </a:solidFill>
                <a:latin typeface="PMingLiU"/>
                <a:ea typeface="PMingLiU"/>
              </a:rPr>
              <a:t>議程（30 分鐘）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800" b="1" i="0">
                <a:solidFill>
                  <a:srgbClr val="15803D"/>
                </a:solidFill>
                <a:latin typeface="PMingLiU"/>
                <a:ea typeface="PMingLiU"/>
              </a:rPr>
              <a:t>第 1 段（0-5 分鐘）</a:t>
            </a: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 系統概觀與角色介紹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800" b="1" i="0">
                <a:solidFill>
                  <a:srgbClr val="15803D"/>
                </a:solidFill>
                <a:latin typeface="PMingLiU"/>
                <a:ea typeface="PMingLiU"/>
              </a:rPr>
              <a:t>第 2 段（5-10 分鐘）</a:t>
            </a: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 系統管理員開案與邊界準備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800" b="1" i="0">
                <a:solidFill>
                  <a:srgbClr val="15803D"/>
                </a:solidFill>
                <a:latin typeface="PMingLiU"/>
                <a:ea typeface="PMingLiU"/>
              </a:rPr>
              <a:t>第 3 段（10-15 分鐘）</a:t>
            </a: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 林農修枝申請（主秀）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800" b="1" i="0">
                <a:solidFill>
                  <a:srgbClr val="15803D"/>
                </a:solidFill>
                <a:latin typeface="PMingLiU"/>
                <a:ea typeface="PMingLiU"/>
              </a:rPr>
              <a:t>第 4 段（15-20 分鐘）</a:t>
            </a: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 分署承辦審核與核准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800" b="1" i="0">
                <a:solidFill>
                  <a:srgbClr val="15803D"/>
                </a:solidFill>
                <a:latin typeface="PMingLiU"/>
                <a:ea typeface="PMingLiU"/>
              </a:rPr>
              <a:t>第 5 段（20-25 分鐘）</a:t>
            </a: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 林農回報葉片採收量與結案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800" b="1" i="0">
                <a:solidFill>
                  <a:srgbClr val="15803D"/>
                </a:solidFill>
                <a:latin typeface="PMingLiU"/>
                <a:ea typeface="PMingLiU"/>
              </a:rPr>
              <a:t>第 6 段（25-30 分鐘）</a:t>
            </a: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 合作社彙整與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0"/>
            <a:ext cx="11887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900" b="0" i="0">
                <a:solidFill>
                  <a:srgbClr val="787169"/>
                </a:solidFill>
                <a:latin typeface="PMingLiU"/>
                <a:ea typeface="PMingLiU"/>
              </a:rPr>
              <a:t>ForestMRV v2.11.69 │ 土肉桂專區葉片收穫監測會計系統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l"/>
            <a:r>
              <a:rPr sz="2800" b="1" i="0">
                <a:solidFill>
                  <a:srgbClr val="FFFFFF"/>
                </a:solidFill>
                <a:latin typeface="PMingLiU"/>
                <a:ea typeface="PMingLiU"/>
              </a:rPr>
              <a:t>系統定位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2000" b="1" i="0">
                <a:solidFill>
                  <a:srgbClr val="15803D"/>
                </a:solidFill>
                <a:latin typeface="PMingLiU"/>
                <a:ea typeface="PMingLiU"/>
              </a:rPr>
              <a:t>ForestMRV 智慧森林監測平臺之子模組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依循 IPCC LULUCF 與 MRV（測量、報告、查證）原則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土肉桂專區採「行政管理導向」設計、非樣區調查專案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2000" b="1" i="0">
                <a:solidFill>
                  <a:srgbClr val="15803D"/>
                </a:solidFill>
                <a:latin typeface="PMingLiU"/>
                <a:ea typeface="PMingLiU"/>
              </a:rPr>
              <a:t>承接四階段行政流程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1. 林農申請修枝採取副產物（葉片）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2. 林業保育署臺中分署核准並核發法定許可文號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3. 林農回報實際葉片採收量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4. 結案後資料移交合作社進行共同銷售彙整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0"/>
            <a:ext cx="11887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900" b="0" i="0">
                <a:solidFill>
                  <a:srgbClr val="787169"/>
                </a:solidFill>
                <a:latin typeface="PMingLiU"/>
                <a:ea typeface="PMingLiU"/>
              </a:rPr>
              <a:t>ForestMRV v2.11.69 │ 土肉桂專區葉片收穫監測會計系統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l"/>
            <a:r>
              <a:rPr sz="2800" b="1" i="0">
                <a:solidFill>
                  <a:srgbClr val="FFFFFF"/>
                </a:solidFill>
                <a:latin typeface="PMingLiU"/>
                <a:ea typeface="PMingLiU"/>
              </a:rPr>
              <a:t>五個系統角色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800" b="1" i="0">
                <a:solidFill>
                  <a:srgbClr val="15803D"/>
                </a:solidFill>
                <a:latin typeface="PMingLiU"/>
                <a:ea typeface="PMingLiU"/>
              </a:rPr>
              <a:t>admin（系統管理員）</a:t>
            </a: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 計畫團隊 │ 開案、邊界、人員指派、QAQC 監督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800" b="1" i="0">
                <a:solidFill>
                  <a:srgbClr val="15803D"/>
                </a:solidFill>
                <a:latin typeface="PMingLiU"/>
                <a:ea typeface="PMingLiU"/>
              </a:rPr>
              <a:t>pi（計畫主持人）</a:t>
            </a: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 計畫團隊／合作社主席（移交後）│ 方法學設定、邀請成員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800" b="1" i="0">
                <a:solidFill>
                  <a:srgbClr val="15803D"/>
                </a:solidFill>
                <a:latin typeface="PMingLiU"/>
                <a:ea typeface="PMingLiU"/>
              </a:rPr>
              <a:t>surveyor（林農）</a:t>
            </a: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 契約承租林農 │ 修枝申請、葉片採收回報、結案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800" b="1" i="0">
                <a:solidFill>
                  <a:srgbClr val="15803D"/>
                </a:solidFill>
                <a:latin typeface="PMingLiU"/>
                <a:ea typeface="PMingLiU"/>
              </a:rPr>
              <a:t>harvest_authority（審核人員）</a:t>
            </a: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 臺中分署承辦 │ 核准、要求補件、駁回、核發法定許可文號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800" b="1" i="0">
                <a:solidFill>
                  <a:srgbClr val="15803D"/>
                </a:solidFill>
                <a:latin typeface="PMingLiU"/>
                <a:ea typeface="PMingLiU"/>
              </a:rPr>
              <a:t>coop（合作社）</a:t>
            </a: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 合作社主席 │ 唯讀彙整、共同銷售匯出 Excel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</a:t>
            </a:r>
          </a:p>
          <a:p>
            <a:pPr algn="l" lvl="1">
              <a:spcBef>
                <a:spcPts val="600"/>
              </a:spcBef>
              <a:spcAft>
                <a:spcPts val="600"/>
              </a:spcAft>
            </a:pPr>
            <a:r>
              <a:rPr sz="1400" b="0" i="1">
                <a:solidFill>
                  <a:srgbClr val="787169"/>
                </a:solidFill>
                <a:latin typeface="PMingLiU"/>
                <a:ea typeface="PMingLiU"/>
              </a:rPr>
              <a:t> 權限以 Firestore Security Rules 強制執行、介面層 UI gating 為輔助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0"/>
            <a:ext cx="11887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900" b="0" i="0">
                <a:solidFill>
                  <a:srgbClr val="787169"/>
                </a:solidFill>
                <a:latin typeface="PMingLiU"/>
                <a:ea typeface="PMingLiU"/>
              </a:rPr>
              <a:t>ForestMRV v2.11.69 │ 土肉桂專區葉片收穫監測會計系統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l"/>
            <a:r>
              <a:rPr sz="2800" b="1" i="0">
                <a:solidFill>
                  <a:srgbClr val="FFFFFF"/>
                </a:solidFill>
                <a:latin typeface="PMingLiU"/>
                <a:ea typeface="PMingLiU"/>
              </a:rPr>
              <a:t>系統入口與登入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760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2000" b="1" i="0">
                <a:solidFill>
                  <a:srgbClr val="15803D"/>
                </a:solidFill>
                <a:latin typeface="PMingLiU"/>
                <a:ea typeface="PMingLiU"/>
              </a:rPr>
              <a:t>網址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https://forestry-rs-monitor.web.app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2000" b="1" i="0">
                <a:solidFill>
                  <a:srgbClr val="15803D"/>
                </a:solidFill>
                <a:latin typeface="PMingLiU"/>
                <a:ea typeface="PMingLiU"/>
              </a:rPr>
              <a:t>兩種登入方式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Google 登入（建議，免另記密碼）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Email/密碼登入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2000" b="1" i="0">
                <a:solidFill>
                  <a:srgbClr val="15803D"/>
                </a:solidFill>
                <a:latin typeface="PMingLiU"/>
                <a:ea typeface="PMingLiU"/>
              </a:rPr>
              <a:t>PWA 設計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無需安裝任何軟體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Chrome、Edge、Safari 皆可使用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手機可加到主畫面、體驗近 native app</a:t>
            </a:r>
          </a:p>
        </p:txBody>
      </p:sp>
      <p:pic>
        <p:nvPicPr>
          <p:cNvPr id="4" name="Picture 3" descr="S01-登入頁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280160"/>
            <a:ext cx="4114800" cy="21796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4251959"/>
            <a:ext cx="41148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ctr"/>
            <a:r>
              <a:rPr sz="1000" b="0" i="1">
                <a:solidFill>
                  <a:srgbClr val="787169"/>
                </a:solidFill>
                <a:latin typeface="PMingLiU"/>
                <a:ea typeface="PMingLiU"/>
              </a:rPr>
              <a:t>ForestMRV 登入頁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11887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900" b="0" i="0">
                <a:solidFill>
                  <a:srgbClr val="787169"/>
                </a:solidFill>
                <a:latin typeface="PMingLiU"/>
                <a:ea typeface="PMingLiU"/>
              </a:rPr>
              <a:t>ForestMRV v2.11.69 │ 土肉桂專區葉片收穫監測會計系統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 i="0">
                <a:solidFill>
                  <a:srgbClr val="F59E0B"/>
                </a:solidFill>
                <a:latin typeface="PMingLiU"/>
                <a:ea typeface="PMingLiU"/>
              </a:rPr>
              <a:t>第 1 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418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PMingLiU"/>
                <a:ea typeface="PMingLiU"/>
              </a:rPr>
              <a:t>系統概觀與角色介紹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 i="0">
                <a:solidFill>
                  <a:srgbClr val="D6D3D1"/>
                </a:solidFill>
                <a:latin typeface="PMingLiU"/>
                <a:ea typeface="PMingLiU"/>
              </a:rPr>
              <a:t>0 - 5 分鐘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l"/>
            <a:r>
              <a:rPr sz="2800" b="1" i="0">
                <a:solidFill>
                  <a:srgbClr val="FFFFFF"/>
                </a:solidFill>
                <a:latin typeface="PMingLiU"/>
                <a:ea typeface="PMingLiU"/>
              </a:rPr>
              <a:t>我的專案首頁</a:t>
            </a:r>
          </a:p>
        </p:txBody>
      </p:sp>
      <p:pic>
        <p:nvPicPr>
          <p:cNvPr id="3" name="Picture 2" descr="S02-我的專案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1188720"/>
            <a:ext cx="9144000" cy="890281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ctr"/>
            <a:r>
              <a:rPr sz="1100" b="0" i="1">
                <a:solidFill>
                  <a:srgbClr val="787169"/>
                </a:solidFill>
                <a:latin typeface="PMingLiU"/>
                <a:ea typeface="PMingLiU"/>
              </a:rPr>
              <a:t>登入後第一個畫面 — admin 可看到全部專案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11887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900" b="0" i="0">
                <a:solidFill>
                  <a:srgbClr val="787169"/>
                </a:solidFill>
                <a:latin typeface="PMingLiU"/>
                <a:ea typeface="PMingLiU"/>
              </a:rPr>
              <a:t>ForestMRV v2.11.69 │ 土肉桂專區葉片收穫監測會計系統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l"/>
            <a:r>
              <a:rPr sz="2800" b="1" i="0">
                <a:solidFill>
                  <a:srgbClr val="FFFFFF"/>
                </a:solidFill>
                <a:latin typeface="PMingLiU"/>
                <a:ea typeface="PMingLiU"/>
              </a:rPr>
              <a:t>專案首頁與七個分頁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760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2000" b="1" i="0">
                <a:solidFill>
                  <a:srgbClr val="15803D"/>
                </a:solidFill>
                <a:latin typeface="PMingLiU"/>
                <a:ea typeface="PMingLiU"/>
              </a:rPr>
              <a:t>純行政專案：分頁已精簡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土肉桂專區不需要樣區、立木、QAQC 等模組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系統自動隱藏「樣區／設計／儀表板」三個分頁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2000" b="1" i="0">
                <a:solidFill>
                  <a:srgbClr val="15803D"/>
                </a:solidFill>
                <a:latin typeface="PMingLiU"/>
                <a:ea typeface="PMingLiU"/>
              </a:rPr>
              <a:t>七個業務分頁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🗺️ 地圖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🌿 修枝申請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📋 修枝審核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🌾 葉片採收回報及結案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📊 葉片採收彙整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📥 匯出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⚙️ 設定</a:t>
            </a:r>
          </a:p>
        </p:txBody>
      </p:sp>
      <p:pic>
        <p:nvPicPr>
          <p:cNvPr id="4" name="Picture 3" descr="S03-土肉桂專案首頁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80160"/>
            <a:ext cx="5486400" cy="40586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5212079"/>
            <a:ext cx="54864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ctr"/>
            <a:r>
              <a:rPr sz="1000" b="0" i="1">
                <a:solidFill>
                  <a:srgbClr val="787169"/>
                </a:solidFill>
                <a:latin typeface="PMingLiU"/>
                <a:ea typeface="PMingLiU"/>
              </a:rPr>
              <a:t>土肉桂專案首頁（地圖分頁 + 七個業務分頁）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11887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900" b="0" i="0">
                <a:solidFill>
                  <a:srgbClr val="787169"/>
                </a:solidFill>
                <a:latin typeface="PMingLiU"/>
                <a:ea typeface="PMingLiU"/>
              </a:rPr>
              <a:t>ForestMRV v2.11.69 │ 土肉桂專區葉片收穫監測會計系統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 i="0">
                <a:solidFill>
                  <a:srgbClr val="F59E0B"/>
                </a:solidFill>
                <a:latin typeface="PMingLiU"/>
                <a:ea typeface="PMingLiU"/>
              </a:rPr>
              <a:t>第 2 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418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PMingLiU"/>
                <a:ea typeface="PMingLiU"/>
              </a:rPr>
              <a:t>系統管理員開案與邊界準備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 i="0">
                <a:solidFill>
                  <a:srgbClr val="D6D3D1"/>
                </a:solidFill>
                <a:latin typeface="PMingLiU"/>
                <a:ea typeface="PMingLiU"/>
              </a:rPr>
              <a:t>5 - 10 分鐘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l"/>
            <a:r>
              <a:rPr sz="2800" b="1" i="0">
                <a:solidFill>
                  <a:srgbClr val="FFFFFF"/>
                </a:solidFill>
                <a:latin typeface="PMingLiU"/>
                <a:ea typeface="PMingLiU"/>
              </a:rPr>
              <a:t>新建土肉桂專案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760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2000" b="1" i="0">
                <a:solidFill>
                  <a:srgbClr val="15803D"/>
                </a:solidFill>
                <a:latin typeface="PMingLiU"/>
                <a:ea typeface="PMingLiU"/>
              </a:rPr>
              <a:t>入口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我的專案 → ＋ 新專案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2000" b="1" i="0">
                <a:solidFill>
                  <a:srgbClr val="15803D"/>
                </a:solidFill>
                <a:latin typeface="PMingLiU"/>
                <a:ea typeface="PMingLiU"/>
              </a:rPr>
              <a:t>表單重點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專案名稱與編號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計畫類型：「行政管理」或「林產物採取監測」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方法學模組：勾選 admin_harvest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800" b="1" i="0">
                <a:solidFill>
                  <a:srgbClr val="15803D"/>
                </a:solidFill>
                <a:latin typeface="PMingLiU"/>
                <a:ea typeface="PMingLiU"/>
              </a:rPr>
              <a:t>📐 專案邊界</a:t>
            </a: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 點「📥 預設邊界」下拉、選土肉桂專區（橫流溪+烏石坑）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2000" b="1" i="0">
                <a:solidFill>
                  <a:srgbClr val="15803D"/>
                </a:solidFill>
                <a:latin typeface="PMingLiU"/>
                <a:ea typeface="PMingLiU"/>
              </a:rPr>
              <a:t>一鍵載入合併邊界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115 個作業單元（橫流溪 45 + 烏石坑 70）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含完整契約 metadata（承租人、契約樹種、面積、契約書號）</a:t>
            </a:r>
          </a:p>
        </p:txBody>
      </p:sp>
      <p:pic>
        <p:nvPicPr>
          <p:cNvPr id="4" name="Picture 3" descr="S15-開案表單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280160"/>
            <a:ext cx="5029200" cy="74446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75120" y="4892040"/>
            <a:ext cx="50292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ctr"/>
            <a:r>
              <a:rPr sz="1000" b="0" i="1">
                <a:solidFill>
                  <a:srgbClr val="787169"/>
                </a:solidFill>
                <a:latin typeface="PMingLiU"/>
                <a:ea typeface="PMingLiU"/>
              </a:rPr>
              <a:t>開案表單預設邊界區塊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11887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900" b="0" i="0">
                <a:solidFill>
                  <a:srgbClr val="787169"/>
                </a:solidFill>
                <a:latin typeface="PMingLiU"/>
                <a:ea typeface="PMingLiU"/>
              </a:rPr>
              <a:t>ForestMRV v2.11.69 │ 土肉桂專區葉片收穫監測會計系統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l"/>
            <a:r>
              <a:rPr sz="2800" b="1" i="0">
                <a:solidFill>
                  <a:srgbClr val="FFFFFF"/>
                </a:solidFill>
                <a:latin typeface="PMingLiU"/>
                <a:ea typeface="PMingLiU"/>
              </a:rPr>
              <a:t>地圖瀏覽：115 個作業單元</a:t>
            </a:r>
          </a:p>
        </p:txBody>
      </p:sp>
      <p:pic>
        <p:nvPicPr>
          <p:cNvPr id="3" name="Picture 2" descr="S17-地圖頁115作業單元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247" y="1188720"/>
            <a:ext cx="9601200" cy="53307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ctr"/>
            <a:r>
              <a:rPr sz="1100" b="0" i="1">
                <a:solidFill>
                  <a:srgbClr val="787169"/>
                </a:solidFill>
                <a:latin typeface="PMingLiU"/>
                <a:ea typeface="PMingLiU"/>
              </a:rPr>
              <a:t>點 label/polygon 跳出 7 欄結構化 metadata popup（作業單元/專區/承租人/契約樹種/面積/工作站/契約書）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11887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900" b="0" i="0">
                <a:solidFill>
                  <a:srgbClr val="787169"/>
                </a:solidFill>
                <a:latin typeface="PMingLiU"/>
                <a:ea typeface="PMingLiU"/>
              </a:rPr>
              <a:t>ForestMRV v2.11.69 │ 土肉桂專區葉片收穫監測會計系統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 i="0">
                <a:solidFill>
                  <a:srgbClr val="F59E0B"/>
                </a:solidFill>
                <a:latin typeface="PMingLiU"/>
                <a:ea typeface="PMingLiU"/>
              </a:rPr>
              <a:t>第 3 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418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PMingLiU"/>
                <a:ea typeface="PMingLiU"/>
              </a:rPr>
              <a:t>林農修枝申請（主秀）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 i="0">
                <a:solidFill>
                  <a:srgbClr val="D6D3D1"/>
                </a:solidFill>
                <a:latin typeface="PMingLiU"/>
                <a:ea typeface="PMingLiU"/>
              </a:rPr>
              <a:t>10 - 15 分鐘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l"/>
            <a:r>
              <a:rPr sz="2800" b="1" i="0">
                <a:solidFill>
                  <a:srgbClr val="FFFFFF"/>
                </a:solidFill>
                <a:latin typeface="PMingLiU"/>
                <a:ea typeface="PMingLiU"/>
              </a:rPr>
              <a:t>修枝申請分頁概觀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760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2000" b="1" i="0">
                <a:solidFill>
                  <a:srgbClr val="15803D"/>
                </a:solidFill>
                <a:latin typeface="PMingLiU"/>
                <a:ea typeface="PMingLiU"/>
              </a:rPr>
              <a:t>業務流程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林農提出申請 → 列印公文寄分署 → 等待核准 → 列印許可單 → 修枝採葉 → 回報採收量 → 結案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2000" b="1" i="0">
                <a:solidFill>
                  <a:srgbClr val="15803D"/>
                </a:solidFill>
                <a:latin typeface="PMingLiU"/>
                <a:ea typeface="PMingLiU"/>
              </a:rPr>
              <a:t>狀態徽章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草稿 / 已送出．待審 / 已核准 / 修枝作業中 / 已結案 / 已駁回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2000" b="1" i="0">
                <a:solidFill>
                  <a:srgbClr val="15803D"/>
                </a:solidFill>
                <a:latin typeface="PMingLiU"/>
                <a:ea typeface="PMingLiU"/>
              </a:rPr>
              <a:t>卡片資訊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申請人、林地、面積、株數、修枝期間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✓ 系統識別摘要（picker 帶入結構化資料）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操作按鈕：✏️ 編輯 / 💚 送出申請 / 🗑️ 刪除 / 📄 申請公文稿</a:t>
            </a:r>
          </a:p>
        </p:txBody>
      </p:sp>
      <p:pic>
        <p:nvPicPr>
          <p:cNvPr id="4" name="Picture 3" descr="S04-修枝申請清單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80160"/>
            <a:ext cx="5486400" cy="19882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5212079"/>
            <a:ext cx="54864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ctr"/>
            <a:r>
              <a:rPr sz="1000" b="0" i="1">
                <a:solidFill>
                  <a:srgbClr val="787169"/>
                </a:solidFill>
                <a:latin typeface="PMingLiU"/>
                <a:ea typeface="PMingLiU"/>
              </a:rPr>
              <a:t>修枝申請清單（含三筆已結案範例）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11887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900" b="0" i="0">
                <a:solidFill>
                  <a:srgbClr val="787169"/>
                </a:solidFill>
                <a:latin typeface="PMingLiU"/>
                <a:ea typeface="PMingLiU"/>
              </a:rPr>
              <a:t>ForestMRV v2.11.69 │ 土肉桂專區葉片收穫監測會計系統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l"/>
            <a:r>
              <a:rPr sz="2800" b="1" i="0">
                <a:solidFill>
                  <a:srgbClr val="FFFFFF"/>
                </a:solidFill>
                <a:latin typeface="PMingLiU"/>
                <a:ea typeface="PMingLiU"/>
              </a:rPr>
              <a:t>新增修枝申請 — 表單設計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760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2000" b="1" i="0">
                <a:solidFill>
                  <a:srgbClr val="15803D"/>
                </a:solidFill>
                <a:latin typeface="PMingLiU"/>
                <a:ea typeface="PMingLiU"/>
              </a:rPr>
              <a:t>表單欄位順序（v2.11.68 設計）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1. 作業位置 picker（三層連動）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2. 作業位置預覽（嵌入迷你地圖）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3. 申請人姓名（picker 自動帶承租人）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4. 聯絡方式（必填）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5. 林班 / 地號（picker 自動帶入）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6. 申請修枝面積（picker 自動帶入）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7. 土肉桂修枝株數（自動 × 1800 株/ha）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8. 修枝方式、起迄日（必填）、備註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2000" b="1" i="0">
                <a:solidFill>
                  <a:srgbClr val="15803D"/>
                </a:solidFill>
                <a:latin typeface="PMingLiU"/>
                <a:ea typeface="PMingLiU"/>
              </a:rPr>
              <a:t>設計理念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「先選作業位置 → 其他欄位自動帶入 → 補必填」</a:t>
            </a:r>
          </a:p>
        </p:txBody>
      </p:sp>
      <p:pic>
        <p:nvPicPr>
          <p:cNvPr id="4" name="Picture 3" descr="S05-新增申請-空白表單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280160"/>
            <a:ext cx="4114800" cy="46263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4251959"/>
            <a:ext cx="41148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ctr"/>
            <a:r>
              <a:rPr sz="1000" b="0" i="1">
                <a:solidFill>
                  <a:srgbClr val="787169"/>
                </a:solidFill>
                <a:latin typeface="PMingLiU"/>
                <a:ea typeface="PMingLiU"/>
              </a:rPr>
              <a:t>新增申請表單（picker + 迷你地圖在最上）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11887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900" b="0" i="0">
                <a:solidFill>
                  <a:srgbClr val="787169"/>
                </a:solidFill>
                <a:latin typeface="PMingLiU"/>
                <a:ea typeface="PMingLiU"/>
              </a:rPr>
              <a:t>ForestMRV v2.11.69 │ 土肉桂專區葉片收穫監測會計系統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l"/>
            <a:r>
              <a:rPr sz="2800" b="1" i="0">
                <a:solidFill>
                  <a:srgbClr val="FFFFFF"/>
                </a:solidFill>
                <a:latin typeface="PMingLiU"/>
                <a:ea typeface="PMingLiU"/>
              </a:rPr>
              <a:t>三層 picker 連動 + 自動帶入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760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2000" b="1" i="0">
                <a:solidFill>
                  <a:srgbClr val="15803D"/>
                </a:solidFill>
                <a:latin typeface="PMingLiU"/>
                <a:ea typeface="PMingLiU"/>
              </a:rPr>
              <a:t>Picker 三層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1. 專區（橫流溪 / 烏石坑）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2. 承租人（依專區自動篩選）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3. 作業單元（依承租人列出 + 契約面積/樹種摘要）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2000" b="1" i="0">
                <a:solidFill>
                  <a:srgbClr val="15803D"/>
                </a:solidFill>
                <a:latin typeface="PMingLiU"/>
                <a:ea typeface="PMingLiU"/>
              </a:rPr>
              <a:t>完成選擇後自動發生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申請人姓名 → 自動覆蓋為承租人姓名（v2.11.63）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林班 / 地號、面積、株數 → 自動帶入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迷你地圖 → 紅色高亮目標 + 自動 zoom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下方 7 欄系統識別摘要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2000" b="1" i="0">
                <a:solidFill>
                  <a:srgbClr val="15803D"/>
                </a:solidFill>
                <a:latin typeface="PMingLiU"/>
                <a:ea typeface="PMingLiU"/>
              </a:rPr>
              <a:t>仍可手動覆蓋任何欄位</a:t>
            </a:r>
          </a:p>
        </p:txBody>
      </p:sp>
      <p:pic>
        <p:nvPicPr>
          <p:cNvPr id="4" name="Picture 3" descr="S06-Picker三層連動完成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280160"/>
            <a:ext cx="4114800" cy="75346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4251959"/>
            <a:ext cx="41148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ctr"/>
            <a:r>
              <a:rPr sz="1000" b="0" i="1">
                <a:solidFill>
                  <a:srgbClr val="787169"/>
                </a:solidFill>
                <a:latin typeface="PMingLiU"/>
                <a:ea typeface="PMingLiU"/>
              </a:rPr>
              <a:t>picker 完成、mini-map 紅色高亮、申請人姓名已帶入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11887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900" b="0" i="0">
                <a:solidFill>
                  <a:srgbClr val="787169"/>
                </a:solidFill>
                <a:latin typeface="PMingLiU"/>
                <a:ea typeface="PMingLiU"/>
              </a:rPr>
              <a:t>ForestMRV v2.11.69 │ 土肉桂專區葉片收穫監測會計系統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l"/>
            <a:r>
              <a:rPr sz="2800" b="1" i="0">
                <a:solidFill>
                  <a:srgbClr val="FFFFFF"/>
                </a:solidFill>
                <a:latin typeface="PMingLiU"/>
                <a:ea typeface="PMingLiU"/>
              </a:rPr>
              <a:t>表單下半部 — 自動計算與必填欄位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760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2000" b="1" i="0">
                <a:solidFill>
                  <a:srgbClr val="15803D"/>
                </a:solidFill>
                <a:latin typeface="PMingLiU"/>
                <a:ea typeface="PMingLiU"/>
              </a:rPr>
              <a:t>自動連動計算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800" b="1" i="0">
                <a:solidFill>
                  <a:srgbClr val="15803D"/>
                </a:solidFill>
                <a:latin typeface="PMingLiU"/>
                <a:ea typeface="PMingLiU"/>
              </a:rPr>
              <a:t>修枝株數</a:t>
            </a: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 面積 × 1800 株/ha（合作社契約假設密度）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面積變更時即時更新株數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可手動覆蓋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2000" b="1" i="0">
                <a:solidFill>
                  <a:srgbClr val="15803D"/>
                </a:solidFill>
                <a:latin typeface="PMingLiU"/>
                <a:ea typeface="PMingLiU"/>
              </a:rPr>
              <a:t>必填欄位（紅色 *）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聯絡方式（電話／email）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修枝起日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修枝迄日（須晚於起日）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2000" b="1" i="0">
                <a:solidFill>
                  <a:srgbClr val="15803D"/>
                </a:solidFill>
                <a:latin typeface="PMingLiU"/>
                <a:ea typeface="PMingLiU"/>
              </a:rPr>
              <a:t>送出選項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800" b="1" i="0">
                <a:solidFill>
                  <a:srgbClr val="15803D"/>
                </a:solidFill>
                <a:latin typeface="PMingLiU"/>
                <a:ea typeface="PMingLiU"/>
              </a:rPr>
              <a:t>💾 儲存草稿</a:t>
            </a: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 可日後繼續編輯，不配發文號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800" b="1" i="0">
                <a:solidFill>
                  <a:srgbClr val="15803D"/>
                </a:solidFill>
                <a:latin typeface="PMingLiU"/>
                <a:ea typeface="PMingLiU"/>
              </a:rPr>
              <a:t>📤 送出申請</a:t>
            </a: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 即時配發發文字號「（修）字第 NNN 號」</a:t>
            </a:r>
          </a:p>
        </p:txBody>
      </p:sp>
      <p:pic>
        <p:nvPicPr>
          <p:cNvPr id="4" name="Picture 3" descr="S07-申請表單下半部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280160"/>
            <a:ext cx="4114800" cy="76444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4251959"/>
            <a:ext cx="41148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ctr"/>
            <a:r>
              <a:rPr sz="1000" b="0" i="1">
                <a:solidFill>
                  <a:srgbClr val="787169"/>
                </a:solidFill>
                <a:latin typeface="PMingLiU"/>
                <a:ea typeface="PMingLiU"/>
              </a:rPr>
              <a:t>表單下半部欄位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11887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900" b="0" i="0">
                <a:solidFill>
                  <a:srgbClr val="787169"/>
                </a:solidFill>
                <a:latin typeface="PMingLiU"/>
                <a:ea typeface="PMingLiU"/>
              </a:rPr>
              <a:t>ForestMRV v2.11.69 │ 土肉桂專區葉片收穫監測會計系統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l"/>
            <a:r>
              <a:rPr sz="2800" b="1" i="0">
                <a:solidFill>
                  <a:srgbClr val="FFFFFF"/>
                </a:solidFill>
                <a:latin typeface="PMingLiU"/>
                <a:ea typeface="PMingLiU"/>
              </a:rPr>
              <a:t>申請公文稿（第 1 頁）— 公文體 4 點 + 表列</a:t>
            </a:r>
          </a:p>
        </p:txBody>
      </p:sp>
      <p:pic>
        <p:nvPicPr>
          <p:cNvPr id="3" name="Picture 2" descr="S08-申請公文稿-第1頁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647" y="1188720"/>
            <a:ext cx="7772400" cy="110238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ctr"/>
            <a:r>
              <a:rPr sz="1100" b="0" i="1">
                <a:solidFill>
                  <a:srgbClr val="787169"/>
                </a:solidFill>
                <a:latin typeface="PMingLiU"/>
                <a:ea typeface="PMingLiU"/>
              </a:rPr>
              <a:t>正式公文「函」格式：受文者 / 發文字號 / 公文體說明 4 點 / 表列 8 欄申請明細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11887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900" b="0" i="0">
                <a:solidFill>
                  <a:srgbClr val="787169"/>
                </a:solidFill>
                <a:latin typeface="PMingLiU"/>
                <a:ea typeface="PMingLiU"/>
              </a:rPr>
              <a:t>ForestMRV v2.11.69 │ 土肉桂專區葉片收穫監測會計系統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l"/>
            <a:r>
              <a:rPr sz="2800" b="1" i="0">
                <a:solidFill>
                  <a:srgbClr val="FFFFFF"/>
                </a:solidFill>
                <a:latin typeface="PMingLiU"/>
                <a:ea typeface="PMingLiU"/>
              </a:rPr>
              <a:t>申請公文稿（第 2 頁）— 作業位置 SVG 示意圖</a:t>
            </a:r>
          </a:p>
        </p:txBody>
      </p:sp>
      <p:pic>
        <p:nvPicPr>
          <p:cNvPr id="3" name="Picture 2" descr="S09-申請公文稿-第2頁S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647" y="1188720"/>
            <a:ext cx="7772400" cy="1108118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ctr"/>
            <a:r>
              <a:rPr sz="1100" b="0" i="1">
                <a:solidFill>
                  <a:srgbClr val="787169"/>
                </a:solidFill>
                <a:latin typeface="PMingLiU"/>
                <a:ea typeface="PMingLiU"/>
              </a:rPr>
              <a:t>自製 inline SVG：紅目標 + 灰 context + N 北方箭頭 + meta 行 + 申請人簽章 + 分署收件欄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11887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900" b="0" i="0">
                <a:solidFill>
                  <a:srgbClr val="787169"/>
                </a:solidFill>
                <a:latin typeface="PMingLiU"/>
                <a:ea typeface="PMingLiU"/>
              </a:rPr>
              <a:t>ForestMRV v2.11.69 │ 土肉桂專區葉片收穫監測會計系統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 i="0">
                <a:solidFill>
                  <a:srgbClr val="F59E0B"/>
                </a:solidFill>
                <a:latin typeface="PMingLiU"/>
                <a:ea typeface="PMingLiU"/>
              </a:rPr>
              <a:t>第 4 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418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PMingLiU"/>
                <a:ea typeface="PMingLiU"/>
              </a:rPr>
              <a:t>分署承辦審核與核准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 i="0">
                <a:solidFill>
                  <a:srgbClr val="D6D3D1"/>
                </a:solidFill>
                <a:latin typeface="PMingLiU"/>
                <a:ea typeface="PMingLiU"/>
              </a:rPr>
              <a:t>15 - 20 分鐘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l"/>
            <a:r>
              <a:rPr sz="2800" b="1" i="0">
                <a:solidFill>
                  <a:srgbClr val="FFFFFF"/>
                </a:solidFill>
                <a:latin typeface="PMingLiU"/>
                <a:ea typeface="PMingLiU"/>
              </a:rPr>
              <a:t>修枝審核分頁（分署承辦視角）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760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2000" b="1" i="0">
                <a:solidFill>
                  <a:srgbClr val="15803D"/>
                </a:solidFill>
                <a:latin typeface="PMingLiU"/>
                <a:ea typeface="PMingLiU"/>
              </a:rPr>
              <a:t>權限聲明（副標）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「審核者僅能核准／要求補件／駁回，不可變更申請內容（權限由 Firestore 規則鎖定）」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2000" b="1" i="0">
                <a:solidFill>
                  <a:srgbClr val="15803D"/>
                </a:solidFill>
                <a:latin typeface="PMingLiU"/>
                <a:ea typeface="PMingLiU"/>
              </a:rPr>
              <a:t>分區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待審核（NN）：尚未審核之案件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已處理（NN）：已核准/駁回之歷史案件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2000" b="1" i="0">
                <a:solidFill>
                  <a:srgbClr val="15803D"/>
                </a:solidFill>
                <a:latin typeface="PMingLiU"/>
                <a:ea typeface="PMingLiU"/>
              </a:rPr>
              <a:t>三按鈕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✅ 核准（綠）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📋 要求補件（橙）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✕ 駁回（紅）</a:t>
            </a:r>
          </a:p>
        </p:txBody>
      </p:sp>
      <p:pic>
        <p:nvPicPr>
          <p:cNvPr id="4" name="Picture 3" descr="S10-修枝審核清單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80160"/>
            <a:ext cx="5486400" cy="344591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5212079"/>
            <a:ext cx="54864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ctr"/>
            <a:r>
              <a:rPr sz="1000" b="0" i="1">
                <a:solidFill>
                  <a:srgbClr val="787169"/>
                </a:solidFill>
                <a:latin typeface="PMingLiU"/>
                <a:ea typeface="PMingLiU"/>
              </a:rPr>
              <a:t>修枝審核清單（含三筆已處理案件）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11887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900" b="0" i="0">
                <a:solidFill>
                  <a:srgbClr val="787169"/>
                </a:solidFill>
                <a:latin typeface="PMingLiU"/>
                <a:ea typeface="PMingLiU"/>
              </a:rPr>
              <a:t>ForestMRV v2.11.69 │ 土肉桂專區葉片收穫監測會計系統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l"/>
            <a:r>
              <a:rPr sz="2800" b="1" i="0">
                <a:solidFill>
                  <a:srgbClr val="FFFFFF"/>
                </a:solidFill>
                <a:latin typeface="PMingLiU"/>
                <a:ea typeface="PMingLiU"/>
              </a:rPr>
              <a:t>核准 Modal（v2.11.69 拍板：不預估採收量）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760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2000" b="1" i="0">
                <a:solidFill>
                  <a:srgbClr val="15803D"/>
                </a:solidFill>
                <a:latin typeface="PMingLiU"/>
                <a:ea typeface="PMingLiU"/>
              </a:rPr>
              <a:t>Modal 內容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申請人資訊摘要（read-only）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800" b="1" i="0">
                <a:solidFill>
                  <a:srgbClr val="15803D"/>
                </a:solidFill>
                <a:latin typeface="PMingLiU"/>
                <a:ea typeface="PMingLiU"/>
              </a:rPr>
              <a:t>灰底宣告框</a:t>
            </a: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 「本案核准後即許可進行修枝作業；所採取葉片重量由林農於 ForestMRV 線上系統實際回報，不設預估上限」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效期起日 / 迄日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審核附註（選填）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2000" b="1" i="0">
                <a:solidFill>
                  <a:srgbClr val="15803D"/>
                </a:solidFill>
                <a:latin typeface="PMingLiU"/>
                <a:ea typeface="PMingLiU"/>
              </a:rPr>
              <a:t>為什麼不設「核准採收量」上限？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土肉桂每塊地年齡不同、每株產出葉量差異大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事先預估上限反而誤導承辦與林農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改採「事後實際回報」設計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合作社共同銷售依實際量結算</a:t>
            </a:r>
          </a:p>
        </p:txBody>
      </p:sp>
      <p:pic>
        <p:nvPicPr>
          <p:cNvPr id="4" name="Picture 3" descr="S11-核准Modal-v2.11.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280160"/>
            <a:ext cx="4114800" cy="17466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4251959"/>
            <a:ext cx="41148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ctr"/>
            <a:r>
              <a:rPr sz="1000" b="0" i="1">
                <a:solidFill>
                  <a:srgbClr val="787169"/>
                </a:solidFill>
                <a:latin typeface="PMingLiU"/>
                <a:ea typeface="PMingLiU"/>
              </a:rPr>
              <a:t>新版核准 Modal（v2.11.69）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11887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900" b="0" i="0">
                <a:solidFill>
                  <a:srgbClr val="787169"/>
                </a:solidFill>
                <a:latin typeface="PMingLiU"/>
                <a:ea typeface="PMingLiU"/>
              </a:rPr>
              <a:t>ForestMRV v2.11.69 │ 土肉桂專區葉片收穫監測會計系統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l"/>
            <a:r>
              <a:rPr sz="2800" b="1" i="0">
                <a:solidFill>
                  <a:srgbClr val="FFFFFF"/>
                </a:solidFill>
                <a:latin typeface="PMingLiU"/>
                <a:ea typeface="PMingLiU"/>
              </a:rPr>
              <a:t>法定許可文號自動配發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2000" b="1" i="0">
                <a:solidFill>
                  <a:srgbClr val="15803D"/>
                </a:solidFill>
                <a:latin typeface="PMingLiU"/>
                <a:ea typeface="PMingLiU"/>
              </a:rPr>
              <a:t>機制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Firestore runTransaction 原子遞增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確保連號、不可重號、不可並寫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2000" b="1" i="0">
                <a:solidFill>
                  <a:srgbClr val="15803D"/>
                </a:solidFill>
                <a:latin typeface="PMingLiU"/>
                <a:ea typeface="PMingLiU"/>
              </a:rPr>
              <a:t>文號格式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「林保中-土肉桂修枝-{民國年}-{NNN}」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例：林保中-土肉桂修枝-115-001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2000" b="1" i="0">
                <a:solidFill>
                  <a:srgbClr val="15803D"/>
                </a:solidFill>
                <a:latin typeface="PMingLiU"/>
                <a:ea typeface="PMingLiU"/>
              </a:rPr>
              <a:t>同步動作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申請狀態 submitted → approved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寫入效期、審核附註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Toast 通知：「✅ 已核准，許可文號 …」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案件移出待審核區、進入已處理區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2000" b="1" i="0">
                <a:solidFill>
                  <a:srgbClr val="15803D"/>
                </a:solidFill>
                <a:latin typeface="PMingLiU"/>
                <a:ea typeface="PMingLiU"/>
              </a:rPr>
              <a:t>林農端即時可見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卡片狀態變綠色「已核准」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新出現「📜 採取許可單」按鈕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0"/>
            <a:ext cx="11887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900" b="0" i="0">
                <a:solidFill>
                  <a:srgbClr val="787169"/>
                </a:solidFill>
                <a:latin typeface="PMingLiU"/>
                <a:ea typeface="PMingLiU"/>
              </a:rPr>
              <a:t>ForestMRV v2.11.69 │ 土肉桂專區葉片收穫監測會計系統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l"/>
            <a:r>
              <a:rPr sz="2800" b="1" i="0">
                <a:solidFill>
                  <a:srgbClr val="FFFFFF"/>
                </a:solidFill>
                <a:latin typeface="PMingLiU"/>
                <a:ea typeface="PMingLiU"/>
              </a:rPr>
              <a:t>採取許可單 — 列印版（含 v2.11.69 宣告）</a:t>
            </a:r>
          </a:p>
        </p:txBody>
      </p:sp>
      <p:pic>
        <p:nvPicPr>
          <p:cNvPr id="3" name="Picture 2" descr="S12-採取許可單-列印版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647" y="1188720"/>
            <a:ext cx="7772400" cy="109590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ctr"/>
            <a:r>
              <a:rPr sz="1100" b="0" i="1">
                <a:solidFill>
                  <a:srgbClr val="787169"/>
                </a:solidFill>
                <a:latin typeface="PMingLiU"/>
                <a:ea typeface="PMingLiU"/>
              </a:rPr>
              <a:t>採取許可單公文 box + 一句宣告（dashed border-top）「本許可只許可修枝作業；所採取葉片重量以實際回報為準、不設預估上限」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11887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900" b="0" i="0">
                <a:solidFill>
                  <a:srgbClr val="787169"/>
                </a:solidFill>
                <a:latin typeface="PMingLiU"/>
                <a:ea typeface="PMingLiU"/>
              </a:rPr>
              <a:t>ForestMRV v2.11.69 │ 土肉桂專區葉片收穫監測會計系統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 i="0">
                <a:solidFill>
                  <a:srgbClr val="F59E0B"/>
                </a:solidFill>
                <a:latin typeface="PMingLiU"/>
                <a:ea typeface="PMingLiU"/>
              </a:rPr>
              <a:t>第 5 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418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PMingLiU"/>
                <a:ea typeface="PMingLiU"/>
              </a:rPr>
              <a:t>林農回報與結案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 i="0">
                <a:solidFill>
                  <a:srgbClr val="D6D3D1"/>
                </a:solidFill>
                <a:latin typeface="PMingLiU"/>
                <a:ea typeface="PMingLiU"/>
              </a:rPr>
              <a:t>20 - 25 分鐘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l"/>
            <a:r>
              <a:rPr sz="2800" b="1" i="0">
                <a:solidFill>
                  <a:srgbClr val="FFFFFF"/>
                </a:solidFill>
                <a:latin typeface="PMingLiU"/>
                <a:ea typeface="PMingLiU"/>
              </a:rPr>
              <a:t>葉片採收回報及結案分頁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760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2000" b="1" i="0">
                <a:solidFill>
                  <a:srgbClr val="15803D"/>
                </a:solidFill>
                <a:latin typeface="PMingLiU"/>
                <a:ea typeface="PMingLiU"/>
              </a:rPr>
              <a:t>業務說明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核准效期內進行修枝作業並採收葉片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回報為法定義務，未回報不可結案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2000" b="1" i="0">
                <a:solidFill>
                  <a:srgbClr val="15803D"/>
                </a:solidFill>
                <a:latin typeface="PMingLiU"/>
                <a:ea typeface="PMingLiU"/>
              </a:rPr>
              <a:t>回報設計（v2.11.69 簡化）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800" b="1" i="0">
                <a:solidFill>
                  <a:srgbClr val="15803D"/>
                </a:solidFill>
                <a:latin typeface="PMingLiU"/>
                <a:ea typeface="PMingLiU"/>
              </a:rPr>
              <a:t>無對照、無達成率</a:t>
            </a: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 純累計顯示，不比對核准量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800" b="1" i="0">
                <a:solidFill>
                  <a:srgbClr val="15803D"/>
                </a:solidFill>
                <a:latin typeface="PMingLiU"/>
                <a:ea typeface="PMingLiU"/>
              </a:rPr>
              <a:t>可分批多次</a:t>
            </a: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 如 5/30 採 10 kg、6/15 採 8 kg、累計 18 kg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2000" b="1" i="0">
                <a:solidFill>
                  <a:srgbClr val="15803D"/>
                </a:solidFill>
                <a:latin typeface="PMingLiU"/>
                <a:ea typeface="PMingLiU"/>
              </a:rPr>
              <a:t>回報欄位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採收日期、實際鮮葉重(kg) — 必填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乾燥後重、含水率、批次標示、備註 — 選填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2000" b="1" i="0">
                <a:solidFill>
                  <a:srgbClr val="15803D"/>
                </a:solidFill>
                <a:latin typeface="PMingLiU"/>
                <a:ea typeface="PMingLiU"/>
              </a:rPr>
              <a:t>自動推進狀態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首筆回報時 approved → harvesting（修枝作業中）</a:t>
            </a:r>
          </a:p>
        </p:txBody>
      </p:sp>
      <p:pic>
        <p:nvPicPr>
          <p:cNvPr id="4" name="Picture 3" descr="S14-葉片採收回報及結案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80160"/>
            <a:ext cx="5486400" cy="32531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5212079"/>
            <a:ext cx="54864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ctr"/>
            <a:r>
              <a:rPr sz="1000" b="0" i="1">
                <a:solidFill>
                  <a:srgbClr val="787169"/>
                </a:solidFill>
                <a:latin typeface="PMingLiU"/>
                <a:ea typeface="PMingLiU"/>
              </a:rPr>
              <a:t>採收回報及結案分頁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11887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900" b="0" i="0">
                <a:solidFill>
                  <a:srgbClr val="787169"/>
                </a:solidFill>
                <a:latin typeface="PMingLiU"/>
                <a:ea typeface="PMingLiU"/>
              </a:rPr>
              <a:t>ForestMRV v2.11.69 │ 土肉桂專區葉片收穫監測會計系統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l"/>
            <a:r>
              <a:rPr sz="2800" b="1" i="0">
                <a:solidFill>
                  <a:srgbClr val="FFFFFF"/>
                </a:solidFill>
                <a:latin typeface="PMingLiU"/>
                <a:ea typeface="PMingLiU"/>
              </a:rPr>
              <a:t>回報完畢並結案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2000" b="1" i="0">
                <a:solidFill>
                  <a:srgbClr val="15803D"/>
                </a:solidFill>
                <a:latin typeface="PMingLiU"/>
                <a:ea typeface="PMingLiU"/>
              </a:rPr>
              <a:t>結案動作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點案件卡片「✅ 回報完畢並結案」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確認對話框列出許可文號、累計回報量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結案後狀態 harvesting → completed（已結案）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2000" b="1" i="0">
                <a:solidFill>
                  <a:srgbClr val="15803D"/>
                </a:solidFill>
                <a:latin typeface="PMingLiU"/>
                <a:ea typeface="PMingLiU"/>
              </a:rPr>
              <a:t>結案後限制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不能再填報採收量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不能再編輯案件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資料固定供分署查核與合作社彙整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2000" b="1" i="0">
                <a:solidFill>
                  <a:srgbClr val="15803D"/>
                </a:solidFill>
                <a:latin typeface="PMingLiU"/>
                <a:ea typeface="PMingLiU"/>
              </a:rPr>
              <a:t>結案閘門（v2.11.39 ship）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800" b="1" i="0">
                <a:solidFill>
                  <a:srgbClr val="15803D"/>
                </a:solidFill>
                <a:latin typeface="PMingLiU"/>
                <a:ea typeface="PMingLiU"/>
              </a:rPr>
              <a:t>法定義務</a:t>
            </a: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 totalLogged_kg &gt; 0 才能結案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800" b="1" i="0">
                <a:solidFill>
                  <a:srgbClr val="15803D"/>
                </a:solidFill>
                <a:latin typeface="PMingLiU"/>
                <a:ea typeface="PMingLiU"/>
              </a:rPr>
              <a:t>雙重把關</a:t>
            </a: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 Firestore Rules + 客戶端同步擋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零回報直接結案會被擋下並提示先回報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0"/>
            <a:ext cx="11887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900" b="0" i="0">
                <a:solidFill>
                  <a:srgbClr val="787169"/>
                </a:solidFill>
                <a:latin typeface="PMingLiU"/>
                <a:ea typeface="PMingLiU"/>
              </a:rPr>
              <a:t>ForestMRV v2.11.69 │ 土肉桂專區葉片收穫監測會計系統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 i="0">
                <a:solidFill>
                  <a:srgbClr val="F59E0B"/>
                </a:solidFill>
                <a:latin typeface="PMingLiU"/>
                <a:ea typeface="PMingLiU"/>
              </a:rPr>
              <a:t>第 6 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418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PMingLiU"/>
                <a:ea typeface="PMingLiU"/>
              </a:rPr>
              <a:t>合作社彙整與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 i="0">
                <a:solidFill>
                  <a:srgbClr val="D6D3D1"/>
                </a:solidFill>
                <a:latin typeface="PMingLiU"/>
                <a:ea typeface="PMingLiU"/>
              </a:rPr>
              <a:t>25 - 30 分鐘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l"/>
            <a:r>
              <a:rPr sz="2800" b="1" i="0">
                <a:solidFill>
                  <a:srgbClr val="FFFFFF"/>
                </a:solidFill>
                <a:latin typeface="PMingLiU"/>
                <a:ea typeface="PMingLiU"/>
              </a:rPr>
              <a:t>葉片採收彙整（合作社視角）</a:t>
            </a:r>
          </a:p>
        </p:txBody>
      </p:sp>
      <p:pic>
        <p:nvPicPr>
          <p:cNvPr id="3" name="Picture 2" descr="S13-葉片採收彙整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247" y="1188720"/>
            <a:ext cx="9601200" cy="65956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ctr"/>
            <a:r>
              <a:rPr sz="1100" b="0" i="1">
                <a:solidFill>
                  <a:srgbClr val="787169"/>
                </a:solidFill>
                <a:latin typeface="PMingLiU"/>
                <a:ea typeface="PMingLiU"/>
              </a:rPr>
              <a:t>三區塊：📋 專區總覽 + 🤝 依林農三欄表（無達成率欄）+ 📋 各申請案唯讀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11887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900" b="0" i="0">
                <a:solidFill>
                  <a:srgbClr val="787169"/>
                </a:solidFill>
                <a:latin typeface="PMingLiU"/>
                <a:ea typeface="PMingLiU"/>
              </a:rPr>
              <a:t>ForestMRV v2.11.69 │ 土肉桂專區葉片收穫監測會計系統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l"/>
            <a:r>
              <a:rPr sz="2800" b="1" i="0">
                <a:solidFill>
                  <a:srgbClr val="FFFFFF"/>
                </a:solidFill>
                <a:latin typeface="PMingLiU"/>
                <a:ea typeface="PMingLiU"/>
              </a:rPr>
              <a:t>共同銷售規劃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2000" b="1" i="0">
                <a:solidFill>
                  <a:srgbClr val="15803D"/>
                </a:solidFill>
                <a:latin typeface="PMingLiU"/>
                <a:ea typeface="PMingLiU"/>
              </a:rPr>
              <a:t>區塊一：專區總覽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申請案總數、狀態分布、已回報葉片採收量總計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共同銷售規劃主要依據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2000" b="1" i="0">
                <a:solidFill>
                  <a:srgbClr val="15803D"/>
                </a:solidFill>
                <a:latin typeface="PMingLiU"/>
                <a:ea typeface="PMingLiU"/>
              </a:rPr>
              <a:t>區塊二：依林農葉片採收彙整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三欄結構：林農 / 案件數 / 已回報葉片採收量(kg)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依採收量降序排列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800" b="1" i="0">
                <a:solidFill>
                  <a:srgbClr val="15803D"/>
                </a:solidFill>
                <a:latin typeface="PMingLiU"/>
                <a:ea typeface="PMingLiU"/>
              </a:rPr>
              <a:t>v2.11.41 拍板</a:t>
            </a: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 無達成率欄、純累計顯示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2000" b="1" i="0">
                <a:solidFill>
                  <a:srgbClr val="15803D"/>
                </a:solidFill>
                <a:latin typeface="PMingLiU"/>
                <a:ea typeface="PMingLiU"/>
              </a:rPr>
              <a:t>區塊三：各申請案（唯讀）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可預覽每筆採取許可單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2000" b="1" i="0">
                <a:solidFill>
                  <a:srgbClr val="15803D"/>
                </a:solidFill>
                <a:latin typeface="PMingLiU"/>
                <a:ea typeface="PMingLiU"/>
              </a:rPr>
              <a:t>匯出 Excel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供共同銷售前資料整理、通路議價、結算分潤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0"/>
            <a:ext cx="11887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900" b="0" i="0">
                <a:solidFill>
                  <a:srgbClr val="787169"/>
                </a:solidFill>
                <a:latin typeface="PMingLiU"/>
                <a:ea typeface="PMingLiU"/>
              </a:rPr>
              <a:t>ForestMRV v2.11.69 │ 土肉桂專區葉片收穫監測會計系統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l"/>
            <a:r>
              <a:rPr sz="2800" b="1" i="0">
                <a:solidFill>
                  <a:srgbClr val="FFFFFF"/>
                </a:solidFill>
                <a:latin typeface="PMingLiU"/>
                <a:ea typeface="PMingLiU"/>
              </a:rPr>
              <a:t>結語：五個角色的協作鏈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2000" b="1" i="0">
                <a:solidFill>
                  <a:srgbClr val="15803D"/>
                </a:solidFill>
                <a:latin typeface="PMingLiU"/>
                <a:ea typeface="PMingLiU"/>
              </a:rPr>
              <a:t>行政管理鏈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1. admin 開案、設邊界、邀請成員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2. surveyor（林農）提出修枝申請、線上送出 + 紙本公文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3. harvest_authority（分署）審核、核准、配發法定許可文號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4. surveyor 線下修枝採葉、線上回報採收量、結案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5. coop（合作社）唯讀彙整、共同銷售規劃、匯出 Excel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2000" b="1" i="0">
                <a:solidFill>
                  <a:srgbClr val="15803D"/>
                </a:solidFill>
                <a:latin typeface="PMingLiU"/>
                <a:ea typeface="PMingLiU"/>
              </a:rPr>
              <a:t>v2.11.69 業務拍板回顧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許可只許可修枝作業、不預估／不限制採收量上限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採收量以實際回報為準、不對照、無達成率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0" i="0">
                <a:solidFill>
                  <a:srgbClr val="44403B"/>
                </a:solidFill>
                <a:latin typeface="PMingLiU"/>
                <a:ea typeface="PMingLiU"/>
              </a:rPr>
              <a:t>• 「事後實際彙整」設計符合土肉桂業務本質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0"/>
            <a:ext cx="11887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900" b="0" i="0">
                <a:solidFill>
                  <a:srgbClr val="787169"/>
                </a:solidFill>
                <a:latin typeface="PMingLiU"/>
                <a:ea typeface="PMingLiU"/>
              </a:rPr>
              <a:t>ForestMRV v2.11.69 │ 土肉桂專區葉片收穫監測會計系統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471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0" b="1" i="0">
                <a:solidFill>
                  <a:srgbClr val="F59E0B"/>
                </a:solidFill>
                <a:latin typeface="PMingLiU"/>
                <a:ea typeface="PMingLiU"/>
              </a:rPr>
              <a:t>Q &amp; A</a:t>
            </a:r>
          </a:p>
          <a:p>
            <a:pPr algn="ctr">
              <a:spcBef>
                <a:spcPts val="2000"/>
              </a:spcBef>
            </a:pPr>
            <a:r>
              <a:rPr sz="3200" b="0" i="0">
                <a:solidFill>
                  <a:srgbClr val="FFFFFF"/>
                </a:solidFill>
                <a:latin typeface="PMingLiU"/>
                <a:ea typeface="PMingLiU"/>
              </a:rPr>
              <a:t>歡迎提問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D6D3D1"/>
                </a:solidFill>
                <a:latin typeface="PMingLiU"/>
                <a:ea typeface="PMingLiU"/>
              </a:rPr>
              <a:t>土肉桂專區葉片收穫監測會計系統 │ ForestMRV v2.11.69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